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80" r:id="rId2"/>
    <p:sldId id="270" r:id="rId3"/>
    <p:sldId id="284" r:id="rId4"/>
    <p:sldId id="274" r:id="rId5"/>
    <p:sldId id="268" r:id="rId6"/>
    <p:sldId id="283" r:id="rId7"/>
    <p:sldId id="282" r:id="rId8"/>
    <p:sldId id="264" r:id="rId9"/>
    <p:sldId id="278" r:id="rId10"/>
    <p:sldId id="269" r:id="rId11"/>
    <p:sldId id="267" r:id="rId12"/>
    <p:sldId id="281" r:id="rId13"/>
    <p:sldId id="265" r:id="rId14"/>
    <p:sldId id="279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1280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DBEB4C-2375-408B-B431-73A8E3C912EC}" type="datetimeFigureOut">
              <a:rPr lang="en-US" smtClean="0"/>
              <a:pPr/>
              <a:t>9/12/2017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BE876F-4345-4EF1-8165-736D3F3290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089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6372FB-D447-44EA-99A0-E8489824EB90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1581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6372FB-D447-44EA-99A0-E8489824EB90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675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6372FB-D447-44EA-99A0-E8489824EB90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4367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6372FB-D447-44EA-99A0-E8489824EB90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5755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6372FB-D447-44EA-99A0-E8489824EB90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8764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6372FB-D447-44EA-99A0-E8489824EB90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9277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6372FB-D447-44EA-99A0-E8489824EB90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1872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6372FB-D447-44EA-99A0-E8489824EB90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7512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6372FB-D447-44EA-99A0-E8489824EB90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5706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6372FB-D447-44EA-99A0-E8489824EB90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0292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6372FB-D447-44EA-99A0-E8489824EB90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2066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6372FB-D447-44EA-99A0-E8489824EB90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2458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6372FB-D447-44EA-99A0-E8489824EB90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6626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40B23-A085-4CE6-9AD9-2B63A9CABB7F}" type="datetimeFigureOut">
              <a:rPr lang="en-US" smtClean="0"/>
              <a:pPr/>
              <a:t>9/12/2017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2DED9-A946-4F41-B045-713A7209B55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40B23-A085-4CE6-9AD9-2B63A9CABB7F}" type="datetimeFigureOut">
              <a:rPr lang="en-US" smtClean="0"/>
              <a:pPr/>
              <a:t>9/12/2017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2DED9-A946-4F41-B045-713A7209B55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40B23-A085-4CE6-9AD9-2B63A9CABB7F}" type="datetimeFigureOut">
              <a:rPr lang="en-US" smtClean="0"/>
              <a:pPr/>
              <a:t>9/12/2017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2DED9-A946-4F41-B045-713A7209B55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40B23-A085-4CE6-9AD9-2B63A9CABB7F}" type="datetimeFigureOut">
              <a:rPr lang="en-US" smtClean="0"/>
              <a:pPr/>
              <a:t>9/12/2017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2DED9-A946-4F41-B045-713A7209B55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40B23-A085-4CE6-9AD9-2B63A9CABB7F}" type="datetimeFigureOut">
              <a:rPr lang="en-US" smtClean="0"/>
              <a:pPr/>
              <a:t>9/12/2017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2DED9-A946-4F41-B045-713A7209B55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40B23-A085-4CE6-9AD9-2B63A9CABB7F}" type="datetimeFigureOut">
              <a:rPr lang="en-US" smtClean="0"/>
              <a:pPr/>
              <a:t>9/12/2017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2DED9-A946-4F41-B045-713A7209B55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40B23-A085-4CE6-9AD9-2B63A9CABB7F}" type="datetimeFigureOut">
              <a:rPr lang="en-US" smtClean="0"/>
              <a:pPr/>
              <a:t>9/12/2017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2DED9-A946-4F41-B045-713A7209B55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40B23-A085-4CE6-9AD9-2B63A9CABB7F}" type="datetimeFigureOut">
              <a:rPr lang="en-US" smtClean="0"/>
              <a:pPr/>
              <a:t>9/12/2017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2DED9-A946-4F41-B045-713A7209B55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40B23-A085-4CE6-9AD9-2B63A9CABB7F}" type="datetimeFigureOut">
              <a:rPr lang="en-US" smtClean="0"/>
              <a:pPr/>
              <a:t>9/12/2017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2DED9-A946-4F41-B045-713A7209B55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40B23-A085-4CE6-9AD9-2B63A9CABB7F}" type="datetimeFigureOut">
              <a:rPr lang="en-US" smtClean="0"/>
              <a:pPr/>
              <a:t>9/12/2017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2DED9-A946-4F41-B045-713A7209B55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40B23-A085-4CE6-9AD9-2B63A9CABB7F}" type="datetimeFigureOut">
              <a:rPr lang="en-US" smtClean="0"/>
              <a:pPr/>
              <a:t>9/12/2017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2DED9-A946-4F41-B045-713A7209B55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D40B23-A085-4CE6-9AD9-2B63A9CABB7F}" type="datetimeFigureOut">
              <a:rPr lang="en-US" smtClean="0"/>
              <a:pPr/>
              <a:t>9/12/2017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92DED9-A946-4F41-B045-713A7209B55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1219200"/>
            <a:ext cx="7620000" cy="15240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1800" b="1" dirty="0" smtClean="0">
                <a:latin typeface="Arial" panose="020B0604020202020204" pitchFamily="34" charset="0"/>
                <a:ea typeface="Kozuka Gothic Pro H" pitchFamily="34" charset="-128"/>
                <a:cs typeface="Arial" panose="020B0604020202020204" pitchFamily="34" charset="0"/>
              </a:rPr>
              <a:t>MATERI PERKULIAHAN</a:t>
            </a:r>
            <a:br>
              <a:rPr lang="en-US" sz="1800" b="1" dirty="0" smtClean="0">
                <a:latin typeface="Arial" panose="020B0604020202020204" pitchFamily="34" charset="0"/>
                <a:ea typeface="Kozuka Gothic Pro H" pitchFamily="34" charset="-128"/>
                <a:cs typeface="Arial" panose="020B0604020202020204" pitchFamily="34" charset="0"/>
              </a:rPr>
            </a:br>
            <a:r>
              <a:rPr lang="en-US" sz="2800" b="1" dirty="0" smtClean="0">
                <a:latin typeface="Arial" panose="020B0604020202020204" pitchFamily="34" charset="0"/>
                <a:ea typeface="Kozuka Gothic Pro H" pitchFamily="34" charset="-128"/>
                <a:cs typeface="Arial" panose="020B0604020202020204" pitchFamily="34" charset="0"/>
              </a:rPr>
              <a:t>KECERDASAN BUATAN</a:t>
            </a:r>
            <a:endParaRPr lang="en-US" sz="2800" b="1" dirty="0">
              <a:latin typeface="Arial" panose="020B0604020202020204" pitchFamily="34" charset="0"/>
              <a:ea typeface="Kozuka Gothic Pro H" pitchFamily="34" charset="-128"/>
              <a:cs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38400" y="5943600"/>
            <a:ext cx="4572000" cy="533400"/>
          </a:xfrm>
        </p:spPr>
        <p:txBody>
          <a:bodyPr>
            <a:noAutofit/>
          </a:bodyPr>
          <a:lstStyle/>
          <a:p>
            <a:r>
              <a:rPr lang="en-US" sz="20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Segoe Script" pitchFamily="34" charset="0"/>
                <a:ea typeface="Cambria Math" pitchFamily="18" charset="0"/>
              </a:rPr>
              <a:t>Ken </a:t>
            </a:r>
            <a:r>
              <a:rPr lang="en-US" sz="2000" b="1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Segoe Script" pitchFamily="34" charset="0"/>
                <a:ea typeface="Cambria Math" pitchFamily="18" charset="0"/>
              </a:rPr>
              <a:t>Kinanti</a:t>
            </a:r>
            <a:r>
              <a:rPr lang="en-US" sz="20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Segoe Script" pitchFamily="34" charset="0"/>
                <a:ea typeface="Cambria Math" pitchFamily="18" charset="0"/>
              </a:rPr>
              <a:t> </a:t>
            </a:r>
            <a:r>
              <a:rPr lang="en-US" sz="2000" b="1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Segoe Script" pitchFamily="34" charset="0"/>
                <a:ea typeface="Cambria Math" pitchFamily="18" charset="0"/>
              </a:rPr>
              <a:t>Purnamasari</a:t>
            </a:r>
            <a:endParaRPr lang="en-US" sz="2000" b="1" dirty="0" smtClean="0">
              <a:solidFill>
                <a:schemeClr val="tx1">
                  <a:lumMod val="95000"/>
                  <a:lumOff val="5000"/>
                </a:schemeClr>
              </a:solidFill>
              <a:latin typeface="Segoe Script" pitchFamily="34" charset="0"/>
              <a:ea typeface="Cambria Math" pitchFamily="18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1066800" y="2858869"/>
            <a:ext cx="70104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038600" y="3849469"/>
            <a:ext cx="1219200" cy="646331"/>
          </a:xfrm>
          <a:prstGeom prst="rect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600" b="1" dirty="0" smtClean="0"/>
              <a:t>0</a:t>
            </a:r>
            <a:endParaRPr lang="en-US" sz="3600" b="1" dirty="0"/>
          </a:p>
        </p:txBody>
      </p:sp>
      <p:pic>
        <p:nvPicPr>
          <p:cNvPr id="3074" name="Picture 2" descr="E:\Pictures\logo_unikom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45022" y="304800"/>
            <a:ext cx="984178" cy="997301"/>
          </a:xfrm>
          <a:prstGeom prst="rect">
            <a:avLst/>
          </a:prstGeom>
          <a:noFill/>
        </p:spPr>
      </p:pic>
      <p:cxnSp>
        <p:nvCxnSpPr>
          <p:cNvPr id="7" name="Straight Connector 6"/>
          <p:cNvCxnSpPr/>
          <p:nvPr/>
        </p:nvCxnSpPr>
        <p:spPr>
          <a:xfrm>
            <a:off x="1066800" y="3544669"/>
            <a:ext cx="70104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66800" y="3011269"/>
            <a:ext cx="7010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latin typeface="Segoe Print" pitchFamily="2" charset="0"/>
                <a:ea typeface="Cambria Math" pitchFamily="18" charset="0"/>
              </a:rPr>
              <a:t>PERKENALAN &amp; ATURAN PERKULIAHAN</a:t>
            </a:r>
            <a:endParaRPr lang="en-US" sz="2000" b="1" dirty="0">
              <a:latin typeface="Segoe Print" pitchFamily="2" charset="0"/>
              <a:ea typeface="Cambria Math" pitchFamily="18" charset="0"/>
            </a:endParaRP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0"/>
            <a:ext cx="85725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286750" y="0"/>
            <a:ext cx="85725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4638"/>
            <a:ext cx="7620000" cy="1143000"/>
          </a:xfrm>
        </p:spPr>
        <p:txBody>
          <a:bodyPr>
            <a:normAutofit/>
          </a:bodyPr>
          <a:lstStyle/>
          <a:p>
            <a:r>
              <a:rPr lang="en-US" dirty="0" err="1" smtClean="0">
                <a:latin typeface="Arabic Typesetting" pitchFamily="66" charset="-78"/>
                <a:cs typeface="Arabic Typesetting" pitchFamily="66" charset="-78"/>
              </a:rPr>
              <a:t>Dosen</a:t>
            </a:r>
            <a:endParaRPr lang="en-US" sz="4800" dirty="0" smtClean="0">
              <a:latin typeface="Arabic Typesetting" pitchFamily="66" charset="-78"/>
              <a:cs typeface="Arabic Typesetting" pitchFamily="66" charset="-78"/>
            </a:endParaRPr>
          </a:p>
        </p:txBody>
      </p:sp>
      <p:cxnSp>
        <p:nvCxnSpPr>
          <p:cNvPr id="31" name="Straight Connector 30"/>
          <p:cNvCxnSpPr/>
          <p:nvPr/>
        </p:nvCxnSpPr>
        <p:spPr>
          <a:xfrm>
            <a:off x="1828800" y="1219200"/>
            <a:ext cx="55626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1828800" y="1295400"/>
            <a:ext cx="55626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Content Placeholder 14"/>
          <p:cNvSpPr>
            <a:spLocks noGrp="1"/>
          </p:cNvSpPr>
          <p:nvPr>
            <p:ph idx="1"/>
          </p:nvPr>
        </p:nvSpPr>
        <p:spPr>
          <a:xfrm>
            <a:off x="1219200" y="1752600"/>
            <a:ext cx="6934200" cy="3154363"/>
          </a:xfrm>
        </p:spPr>
        <p:txBody>
          <a:bodyPr>
            <a:normAutofit fontScale="85000" lnSpcReduction="20000"/>
          </a:bodyPr>
          <a:lstStyle/>
          <a:p>
            <a:pPr algn="ctr">
              <a:buNone/>
            </a:pPr>
            <a:r>
              <a:rPr lang="en-US" sz="4400" b="1" dirty="0" smtClean="0">
                <a:latin typeface="Arial" panose="020B0604020202020204" pitchFamily="34" charset="0"/>
                <a:ea typeface="Adobe Fangsong Std R" pitchFamily="18" charset="-128"/>
                <a:cs typeface="Arial" panose="020B0604020202020204" pitchFamily="34" charset="0"/>
              </a:rPr>
              <a:t>Ken </a:t>
            </a:r>
            <a:r>
              <a:rPr lang="en-US" sz="4400" b="1" dirty="0" err="1" smtClean="0">
                <a:latin typeface="Arial" panose="020B0604020202020204" pitchFamily="34" charset="0"/>
                <a:ea typeface="Adobe Fangsong Std R" pitchFamily="18" charset="-128"/>
                <a:cs typeface="Arial" panose="020B0604020202020204" pitchFamily="34" charset="0"/>
              </a:rPr>
              <a:t>Kinanti</a:t>
            </a:r>
            <a:r>
              <a:rPr lang="en-US" sz="4400" b="1" dirty="0" smtClean="0">
                <a:latin typeface="Arial" panose="020B0604020202020204" pitchFamily="34" charset="0"/>
                <a:ea typeface="Adobe Fangsong Std R" pitchFamily="18" charset="-128"/>
                <a:cs typeface="Arial" panose="020B0604020202020204" pitchFamily="34" charset="0"/>
              </a:rPr>
              <a:t> </a:t>
            </a:r>
            <a:r>
              <a:rPr lang="en-US" sz="4400" b="1" dirty="0" err="1" smtClean="0">
                <a:latin typeface="Arial" panose="020B0604020202020204" pitchFamily="34" charset="0"/>
                <a:ea typeface="Adobe Fangsong Std R" pitchFamily="18" charset="-128"/>
                <a:cs typeface="Arial" panose="020B0604020202020204" pitchFamily="34" charset="0"/>
              </a:rPr>
              <a:t>Purnamasari</a:t>
            </a:r>
            <a:endParaRPr lang="en-US" sz="4400" b="1" dirty="0" smtClean="0">
              <a:latin typeface="Arial" panose="020B0604020202020204" pitchFamily="34" charset="0"/>
              <a:ea typeface="Adobe Fangsong Std R" pitchFamily="18" charset="-128"/>
              <a:cs typeface="Arial" panose="020B0604020202020204" pitchFamily="34" charset="0"/>
            </a:endParaRPr>
          </a:p>
          <a:p>
            <a:pPr algn="ctr">
              <a:buNone/>
            </a:pPr>
            <a:endParaRPr lang="en-US" dirty="0" smtClean="0">
              <a:latin typeface="Arial" panose="020B0604020202020204" pitchFamily="34" charset="0"/>
              <a:ea typeface="Kozuka Gothic Pro H" pitchFamily="34" charset="-128"/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2800" dirty="0" smtClean="0">
                <a:latin typeface="Arial" panose="020B0604020202020204" pitchFamily="34" charset="0"/>
                <a:ea typeface="Kozuka Gothic Pro H" pitchFamily="34" charset="-128"/>
                <a:cs typeface="Arial" panose="020B0604020202020204" pitchFamily="34" charset="0"/>
              </a:rPr>
              <a:t>Chat FB / Messenger </a:t>
            </a:r>
          </a:p>
          <a:p>
            <a:pPr algn="ctr">
              <a:buNone/>
            </a:pPr>
            <a:r>
              <a:rPr lang="en-US" sz="2800" b="1" dirty="0" smtClean="0">
                <a:latin typeface="Arial" panose="020B0604020202020204" pitchFamily="34" charset="0"/>
                <a:ea typeface="Kozuka Gothic Pro H" pitchFamily="34" charset="-128"/>
                <a:cs typeface="Arial" panose="020B0604020202020204" pitchFamily="34" charset="0"/>
              </a:rPr>
              <a:t>Ken </a:t>
            </a:r>
            <a:r>
              <a:rPr lang="en-US" sz="2800" b="1" dirty="0" err="1" smtClean="0">
                <a:latin typeface="Arial" panose="020B0604020202020204" pitchFamily="34" charset="0"/>
                <a:ea typeface="Kozuka Gothic Pro H" pitchFamily="34" charset="-128"/>
                <a:cs typeface="Arial" panose="020B0604020202020204" pitchFamily="34" charset="0"/>
              </a:rPr>
              <a:t>Kinanti</a:t>
            </a:r>
            <a:r>
              <a:rPr lang="en-US" sz="2800" b="1" dirty="0" smtClean="0">
                <a:latin typeface="Arial" panose="020B0604020202020204" pitchFamily="34" charset="0"/>
                <a:ea typeface="Kozuka Gothic Pro H" pitchFamily="34" charset="-128"/>
                <a:cs typeface="Arial" panose="020B0604020202020204" pitchFamily="34" charset="0"/>
              </a:rPr>
              <a:t> </a:t>
            </a:r>
            <a:r>
              <a:rPr lang="en-US" sz="2800" b="1" dirty="0" err="1" smtClean="0">
                <a:latin typeface="Arial" panose="020B0604020202020204" pitchFamily="34" charset="0"/>
                <a:ea typeface="Kozuka Gothic Pro H" pitchFamily="34" charset="-128"/>
                <a:cs typeface="Arial" panose="020B0604020202020204" pitchFamily="34" charset="0"/>
              </a:rPr>
              <a:t>Purnamasari</a:t>
            </a:r>
            <a:endParaRPr lang="en-US" sz="2800" b="1" dirty="0" smtClean="0">
              <a:latin typeface="Arial" panose="020B0604020202020204" pitchFamily="34" charset="0"/>
              <a:ea typeface="Kozuka Gothic Pro H" pitchFamily="34" charset="-128"/>
              <a:cs typeface="Arial" panose="020B0604020202020204" pitchFamily="34" charset="0"/>
            </a:endParaRPr>
          </a:p>
          <a:p>
            <a:pPr algn="ctr">
              <a:buNone/>
            </a:pPr>
            <a:endParaRPr lang="en-US" sz="2800" b="1" dirty="0" smtClean="0">
              <a:latin typeface="Arial" panose="020B0604020202020204" pitchFamily="34" charset="0"/>
              <a:ea typeface="Kozuka Gothic Pro H" pitchFamily="34" charset="-128"/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2800" dirty="0" err="1" smtClean="0">
                <a:latin typeface="Arial" panose="020B0604020202020204" pitchFamily="34" charset="0"/>
                <a:ea typeface="Kozuka Gothic Pro H" pitchFamily="34" charset="-128"/>
                <a:cs typeface="Arial" panose="020B0604020202020204" pitchFamily="34" charset="0"/>
              </a:rPr>
              <a:t>Materi</a:t>
            </a:r>
            <a:r>
              <a:rPr lang="en-US" sz="2800" dirty="0" smtClean="0">
                <a:latin typeface="Arial" panose="020B0604020202020204" pitchFamily="34" charset="0"/>
                <a:ea typeface="Kozuka Gothic Pro H" pitchFamily="34" charset="-128"/>
                <a:cs typeface="Arial" panose="020B0604020202020204" pitchFamily="34" charset="0"/>
              </a:rPr>
              <a:t> Online </a:t>
            </a:r>
          </a:p>
          <a:p>
            <a:pPr algn="ctr">
              <a:buNone/>
            </a:pPr>
            <a:r>
              <a:rPr lang="en-US" sz="2800" i="1" dirty="0" smtClean="0">
                <a:latin typeface="Arial" panose="020B0604020202020204" pitchFamily="34" charset="0"/>
                <a:ea typeface="Kozuka Gothic Pro H" pitchFamily="34" charset="-128"/>
                <a:cs typeface="Arial" panose="020B0604020202020204" pitchFamily="34" charset="0"/>
              </a:rPr>
              <a:t>(kuliahonline.unikom.ac.id) </a:t>
            </a:r>
            <a:endParaRPr lang="en-US" sz="2800" i="1" dirty="0">
              <a:latin typeface="Arial" panose="020B0604020202020204" pitchFamily="34" charset="0"/>
              <a:ea typeface="Kozuka Gothic Pro H" pitchFamily="34" charset="-128"/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2800" b="1" dirty="0" smtClean="0">
                <a:latin typeface="Arial" panose="020B0604020202020204" pitchFamily="34" charset="0"/>
                <a:ea typeface="Kozuka Gothic Pro H" pitchFamily="34" charset="-128"/>
                <a:cs typeface="Arial" panose="020B0604020202020204" pitchFamily="34" charset="0"/>
              </a:rPr>
              <a:t>AI – 2017</a:t>
            </a:r>
            <a:endParaRPr lang="en-US" sz="2800" b="1" dirty="0">
              <a:latin typeface="Arial" panose="020B0604020202020204" pitchFamily="34" charset="0"/>
              <a:ea typeface="Kozuka Gothic Pro H" pitchFamily="34" charset="-128"/>
              <a:cs typeface="Arial" panose="020B0604020202020204" pitchFamily="34" charset="0"/>
            </a:endParaRPr>
          </a:p>
          <a:p>
            <a:pPr algn="ctr">
              <a:buNone/>
            </a:pPr>
            <a:endParaRPr lang="en-US" sz="2800" b="1" dirty="0" smtClean="0">
              <a:latin typeface="Arial" panose="020B0604020202020204" pitchFamily="34" charset="0"/>
              <a:ea typeface="Kozuka Gothic Pro H" pitchFamily="34" charset="-128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4638"/>
            <a:ext cx="7620000" cy="1143000"/>
          </a:xfrm>
        </p:spPr>
        <p:txBody>
          <a:bodyPr>
            <a:normAutofit/>
          </a:bodyPr>
          <a:lstStyle/>
          <a:p>
            <a:r>
              <a:rPr lang="en-US" dirty="0" err="1" smtClean="0">
                <a:latin typeface="Arabic Typesetting" pitchFamily="66" charset="-78"/>
                <a:cs typeface="Arabic Typesetting" pitchFamily="66" charset="-78"/>
              </a:rPr>
              <a:t>Kuliah</a:t>
            </a:r>
            <a:r>
              <a:rPr lang="en-US" dirty="0" smtClean="0">
                <a:latin typeface="Arabic Typesetting" pitchFamily="66" charset="-78"/>
                <a:cs typeface="Arabic Typesetting" pitchFamily="66" charset="-78"/>
              </a:rPr>
              <a:t> Online</a:t>
            </a:r>
            <a:endParaRPr lang="en-US" sz="4800" dirty="0" smtClean="0">
              <a:latin typeface="Arabic Typesetting" pitchFamily="66" charset="-78"/>
              <a:cs typeface="Arabic Typesetting" pitchFamily="66" charset="-78"/>
            </a:endParaRPr>
          </a:p>
        </p:txBody>
      </p:sp>
      <p:cxnSp>
        <p:nvCxnSpPr>
          <p:cNvPr id="31" name="Straight Connector 30"/>
          <p:cNvCxnSpPr/>
          <p:nvPr/>
        </p:nvCxnSpPr>
        <p:spPr>
          <a:xfrm>
            <a:off x="1828800" y="1219200"/>
            <a:ext cx="55626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1828800" y="1295400"/>
            <a:ext cx="55626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171784"/>
            <a:ext cx="8397195" cy="2603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142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771900" y="2163763"/>
            <a:ext cx="1447800" cy="6858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685800" y="274638"/>
            <a:ext cx="7620000" cy="1143000"/>
          </a:xfrm>
        </p:spPr>
        <p:txBody>
          <a:bodyPr>
            <a:normAutofit/>
          </a:bodyPr>
          <a:lstStyle/>
          <a:p>
            <a:r>
              <a:rPr lang="en-US" dirty="0" err="1" smtClean="0">
                <a:latin typeface="Arabic Typesetting" pitchFamily="66" charset="-78"/>
                <a:cs typeface="Arabic Typesetting" pitchFamily="66" charset="-78"/>
              </a:rPr>
              <a:t>Beban</a:t>
            </a:r>
            <a:r>
              <a:rPr lang="en-US" dirty="0" smtClean="0">
                <a:latin typeface="Arabic Typesetting" pitchFamily="66" charset="-78"/>
                <a:cs typeface="Arabic Typesetting" pitchFamily="66" charset="-78"/>
              </a:rPr>
              <a:t> </a:t>
            </a:r>
            <a:r>
              <a:rPr lang="en-US" dirty="0" err="1" smtClean="0">
                <a:latin typeface="Arabic Typesetting" pitchFamily="66" charset="-78"/>
                <a:cs typeface="Arabic Typesetting" pitchFamily="66" charset="-78"/>
              </a:rPr>
              <a:t>Kuliah</a:t>
            </a:r>
            <a:endParaRPr lang="en-US" dirty="0" smtClean="0">
              <a:latin typeface="Arabic Typesetting" pitchFamily="66" charset="-78"/>
              <a:cs typeface="Arabic Typesetting" pitchFamily="66" charset="-78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676400" y="1219200"/>
            <a:ext cx="55626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Content Placeholder 14"/>
          <p:cNvSpPr>
            <a:spLocks noGrp="1"/>
          </p:cNvSpPr>
          <p:nvPr>
            <p:ph idx="1"/>
          </p:nvPr>
        </p:nvSpPr>
        <p:spPr>
          <a:xfrm>
            <a:off x="609600" y="2057400"/>
            <a:ext cx="7772400" cy="3078163"/>
          </a:xfrm>
        </p:spPr>
        <p:txBody>
          <a:bodyPr>
            <a:normAutofit fontScale="92500" lnSpcReduction="20000"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sz="4400" b="1" dirty="0" smtClean="0">
                <a:latin typeface="Arial" panose="020B0604020202020204" pitchFamily="34" charset="0"/>
                <a:ea typeface="Kozuka Gothic Pro H" pitchFamily="34" charset="-128"/>
                <a:cs typeface="Arial" panose="020B0604020202020204" pitchFamily="34" charset="0"/>
              </a:rPr>
              <a:t>3</a:t>
            </a:r>
            <a:r>
              <a:rPr lang="en-US" dirty="0" smtClean="0">
                <a:latin typeface="Arial" panose="020B0604020202020204" pitchFamily="34" charset="0"/>
                <a:ea typeface="Kozuka Gothic Pro H" pitchFamily="34" charset="-128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ea typeface="Kozuka Gothic Pro H" pitchFamily="34" charset="-128"/>
                <a:cs typeface="Arial" panose="020B0604020202020204" pitchFamily="34" charset="0"/>
              </a:rPr>
              <a:t>sks</a:t>
            </a:r>
            <a:r>
              <a:rPr lang="en-US" dirty="0" smtClean="0">
                <a:latin typeface="Arial" panose="020B0604020202020204" pitchFamily="34" charset="0"/>
                <a:ea typeface="Kozuka Gothic Pro H" pitchFamily="34" charset="-128"/>
                <a:cs typeface="Arial" panose="020B0604020202020204" pitchFamily="34" charset="0"/>
              </a:rPr>
              <a:t> </a:t>
            </a:r>
          </a:p>
          <a:p>
            <a:pPr algn="ctr">
              <a:buNone/>
            </a:pPr>
            <a:endParaRPr lang="en-US" sz="2800" b="1" i="1" dirty="0" smtClean="0">
              <a:latin typeface="Arial" panose="020B0604020202020204" pitchFamily="34" charset="0"/>
              <a:ea typeface="Kozuka Gothic Pro H" pitchFamily="34" charset="-128"/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2800" b="1" i="1" dirty="0" smtClean="0">
                <a:latin typeface="Arial" panose="020B0604020202020204" pitchFamily="34" charset="0"/>
                <a:ea typeface="Kozuka Gothic Pro H" pitchFamily="34" charset="-128"/>
                <a:cs typeface="Arial" panose="020B0604020202020204" pitchFamily="34" charset="0"/>
              </a:rPr>
              <a:t>135 </a:t>
            </a:r>
            <a:r>
              <a:rPr lang="en-US" sz="2800" b="1" i="1" dirty="0" err="1" smtClean="0">
                <a:latin typeface="Arial" panose="020B0604020202020204" pitchFamily="34" charset="0"/>
                <a:ea typeface="Kozuka Gothic Pro H" pitchFamily="34" charset="-128"/>
                <a:cs typeface="Arial" panose="020B0604020202020204" pitchFamily="34" charset="0"/>
              </a:rPr>
              <a:t>menit</a:t>
            </a:r>
            <a:r>
              <a:rPr lang="en-US" sz="2800" i="1" dirty="0" smtClean="0">
                <a:latin typeface="Arial" panose="020B0604020202020204" pitchFamily="34" charset="0"/>
                <a:ea typeface="Kozuka Gothic Pro H" pitchFamily="34" charset="-128"/>
                <a:cs typeface="Arial" panose="020B0604020202020204" pitchFamily="34" charset="0"/>
              </a:rPr>
              <a:t> di </a:t>
            </a:r>
            <a:r>
              <a:rPr lang="en-US" sz="2800" i="1" dirty="0" err="1" smtClean="0">
                <a:latin typeface="Arial" panose="020B0604020202020204" pitchFamily="34" charset="0"/>
                <a:ea typeface="Kozuka Gothic Pro H" pitchFamily="34" charset="-128"/>
                <a:cs typeface="Arial" panose="020B0604020202020204" pitchFamily="34" charset="0"/>
              </a:rPr>
              <a:t>kelas</a:t>
            </a:r>
            <a:r>
              <a:rPr lang="en-US" sz="2800" i="1" dirty="0" smtClean="0">
                <a:latin typeface="Arial" panose="020B0604020202020204" pitchFamily="34" charset="0"/>
                <a:ea typeface="Kozuka Gothic Pro H" pitchFamily="34" charset="-128"/>
                <a:cs typeface="Arial" panose="020B0604020202020204" pitchFamily="34" charset="0"/>
              </a:rPr>
              <a:t>, </a:t>
            </a:r>
          </a:p>
          <a:p>
            <a:pPr algn="ctr">
              <a:buNone/>
            </a:pPr>
            <a:r>
              <a:rPr lang="en-US" sz="2800" b="1" i="1" dirty="0">
                <a:latin typeface="Arial" panose="020B0604020202020204" pitchFamily="34" charset="0"/>
                <a:ea typeface="Kozuka Gothic Pro H" pitchFamily="34" charset="-128"/>
                <a:cs typeface="Arial" panose="020B0604020202020204" pitchFamily="34" charset="0"/>
              </a:rPr>
              <a:t>3</a:t>
            </a:r>
            <a:r>
              <a:rPr lang="en-US" sz="2800" b="1" i="1" dirty="0" smtClean="0">
                <a:latin typeface="Arial" panose="020B0604020202020204" pitchFamily="34" charset="0"/>
                <a:ea typeface="Kozuka Gothic Pro H" pitchFamily="34" charset="-128"/>
                <a:cs typeface="Arial" panose="020B0604020202020204" pitchFamily="34" charset="0"/>
              </a:rPr>
              <a:t> jam</a:t>
            </a:r>
            <a:r>
              <a:rPr lang="en-US" sz="2800" i="1" dirty="0" smtClean="0">
                <a:latin typeface="Arial" panose="020B0604020202020204" pitchFamily="34" charset="0"/>
                <a:ea typeface="Kozuka Gothic Pro H" pitchFamily="34" charset="-128"/>
                <a:cs typeface="Arial" panose="020B0604020202020204" pitchFamily="34" charset="0"/>
              </a:rPr>
              <a:t> </a:t>
            </a:r>
            <a:r>
              <a:rPr lang="en-US" sz="2800" i="1" dirty="0" err="1" smtClean="0">
                <a:latin typeface="Arial" panose="020B0604020202020204" pitchFamily="34" charset="0"/>
                <a:ea typeface="Kozuka Gothic Pro H" pitchFamily="34" charset="-128"/>
                <a:cs typeface="Arial" panose="020B0604020202020204" pitchFamily="34" charset="0"/>
              </a:rPr>
              <a:t>mengerjakan</a:t>
            </a:r>
            <a:r>
              <a:rPr lang="en-US" sz="2800" i="1" dirty="0" smtClean="0">
                <a:latin typeface="Arial" panose="020B0604020202020204" pitchFamily="34" charset="0"/>
                <a:ea typeface="Kozuka Gothic Pro H" pitchFamily="34" charset="-128"/>
                <a:cs typeface="Arial" panose="020B0604020202020204" pitchFamily="34" charset="0"/>
              </a:rPr>
              <a:t> </a:t>
            </a:r>
            <a:r>
              <a:rPr lang="en-US" sz="2800" i="1" dirty="0" err="1" smtClean="0">
                <a:latin typeface="Arial" panose="020B0604020202020204" pitchFamily="34" charset="0"/>
                <a:ea typeface="Kozuka Gothic Pro H" pitchFamily="34" charset="-128"/>
                <a:cs typeface="Arial" panose="020B0604020202020204" pitchFamily="34" charset="0"/>
              </a:rPr>
              <a:t>tugas</a:t>
            </a:r>
            <a:r>
              <a:rPr lang="en-US" sz="2800" i="1" dirty="0" smtClean="0">
                <a:latin typeface="Arial" panose="020B0604020202020204" pitchFamily="34" charset="0"/>
                <a:ea typeface="Kozuka Gothic Pro H" pitchFamily="34" charset="-128"/>
                <a:cs typeface="Arial" panose="020B0604020202020204" pitchFamily="34" charset="0"/>
              </a:rPr>
              <a:t>, </a:t>
            </a:r>
          </a:p>
          <a:p>
            <a:pPr algn="ctr">
              <a:buNone/>
            </a:pPr>
            <a:r>
              <a:rPr lang="en-US" sz="2800" b="1" i="1" dirty="0">
                <a:latin typeface="Arial" panose="020B0604020202020204" pitchFamily="34" charset="0"/>
                <a:ea typeface="Kozuka Gothic Pro H" pitchFamily="34" charset="-128"/>
                <a:cs typeface="Arial" panose="020B0604020202020204" pitchFamily="34" charset="0"/>
              </a:rPr>
              <a:t>3</a:t>
            </a:r>
            <a:r>
              <a:rPr lang="en-US" sz="2800" b="1" i="1" dirty="0" smtClean="0">
                <a:latin typeface="Arial" panose="020B0604020202020204" pitchFamily="34" charset="0"/>
                <a:ea typeface="Kozuka Gothic Pro H" pitchFamily="34" charset="-128"/>
                <a:cs typeface="Arial" panose="020B0604020202020204" pitchFamily="34" charset="0"/>
              </a:rPr>
              <a:t> jam</a:t>
            </a:r>
            <a:r>
              <a:rPr lang="en-US" sz="2800" i="1" dirty="0" smtClean="0">
                <a:latin typeface="Arial" panose="020B0604020202020204" pitchFamily="34" charset="0"/>
                <a:ea typeface="Kozuka Gothic Pro H" pitchFamily="34" charset="-128"/>
                <a:cs typeface="Arial" panose="020B0604020202020204" pitchFamily="34" charset="0"/>
              </a:rPr>
              <a:t> </a:t>
            </a:r>
            <a:r>
              <a:rPr lang="en-US" sz="2800" i="1" dirty="0" err="1" smtClean="0">
                <a:latin typeface="Arial" panose="020B0604020202020204" pitchFamily="34" charset="0"/>
                <a:ea typeface="Kozuka Gothic Pro H" pitchFamily="34" charset="-128"/>
                <a:cs typeface="Arial" panose="020B0604020202020204" pitchFamily="34" charset="0"/>
              </a:rPr>
              <a:t>belajar</a:t>
            </a:r>
            <a:r>
              <a:rPr lang="en-US" sz="2800" i="1" dirty="0" smtClean="0">
                <a:latin typeface="Arial" panose="020B0604020202020204" pitchFamily="34" charset="0"/>
                <a:ea typeface="Kozuka Gothic Pro H" pitchFamily="34" charset="-128"/>
                <a:cs typeface="Arial" panose="020B0604020202020204" pitchFamily="34" charset="0"/>
              </a:rPr>
              <a:t> </a:t>
            </a:r>
            <a:r>
              <a:rPr lang="en-US" sz="2800" i="1" dirty="0" err="1" smtClean="0">
                <a:latin typeface="Arial" panose="020B0604020202020204" pitchFamily="34" charset="0"/>
                <a:ea typeface="Kozuka Gothic Pro H" pitchFamily="34" charset="-128"/>
                <a:cs typeface="Arial" panose="020B0604020202020204" pitchFamily="34" charset="0"/>
              </a:rPr>
              <a:t>mandiri</a:t>
            </a:r>
            <a:endParaRPr lang="en-US" sz="2800" i="1" dirty="0" smtClean="0">
              <a:latin typeface="Arial" panose="020B0604020202020204" pitchFamily="34" charset="0"/>
              <a:ea typeface="Kozuka Gothic Pro H" pitchFamily="34" charset="-128"/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2800" i="1" dirty="0" smtClean="0">
                <a:latin typeface="Arial" panose="020B0604020202020204" pitchFamily="34" charset="0"/>
                <a:ea typeface="Kozuka Gothic Pro H" pitchFamily="34" charset="-128"/>
                <a:cs typeface="Arial" panose="020B0604020202020204" pitchFamily="34" charset="0"/>
              </a:rPr>
              <a:t>(per </a:t>
            </a:r>
            <a:r>
              <a:rPr lang="en-US" sz="2800" i="1" dirty="0" err="1" smtClean="0">
                <a:latin typeface="Arial" panose="020B0604020202020204" pitchFamily="34" charset="0"/>
                <a:ea typeface="Kozuka Gothic Pro H" pitchFamily="34" charset="-128"/>
                <a:cs typeface="Arial" panose="020B0604020202020204" pitchFamily="34" charset="0"/>
              </a:rPr>
              <a:t>minggu</a:t>
            </a:r>
            <a:r>
              <a:rPr lang="en-US" sz="2800" i="1" dirty="0" smtClean="0">
                <a:latin typeface="Arial" panose="020B0604020202020204" pitchFamily="34" charset="0"/>
                <a:ea typeface="Kozuka Gothic Pro H" pitchFamily="34" charset="-128"/>
                <a:cs typeface="Arial" panose="020B0604020202020204" pitchFamily="34" charset="0"/>
              </a:rPr>
              <a:t>)</a:t>
            </a:r>
          </a:p>
          <a:p>
            <a:pPr algn="ctr">
              <a:buNone/>
            </a:pPr>
            <a:endParaRPr lang="en-US" sz="2800" dirty="0" smtClean="0">
              <a:latin typeface="Arial" panose="020B0604020202020204" pitchFamily="34" charset="0"/>
              <a:ea typeface="Kozuka Gothic Pro H" pitchFamily="34" charset="-128"/>
              <a:cs typeface="Arial" panose="020B0604020202020204" pitchFamily="34" charset="0"/>
            </a:endParaRPr>
          </a:p>
          <a:p>
            <a:pPr algn="ctr">
              <a:buNone/>
            </a:pPr>
            <a:endParaRPr lang="en-US" sz="2800" dirty="0">
              <a:latin typeface="Arial" panose="020B0604020202020204" pitchFamily="34" charset="0"/>
              <a:ea typeface="Kozuka Gothic Pro H" pitchFamily="34" charset="-128"/>
              <a:cs typeface="Arial" panose="020B0604020202020204" pitchFamily="34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1676400" y="1295400"/>
            <a:ext cx="55626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255387"/>
            <a:ext cx="7772400" cy="1143000"/>
          </a:xfrm>
        </p:spPr>
        <p:txBody>
          <a:bodyPr>
            <a:normAutofit/>
          </a:bodyPr>
          <a:lstStyle/>
          <a:p>
            <a:r>
              <a:rPr lang="en-US" sz="4800" dirty="0" err="1" smtClean="0">
                <a:latin typeface="Arabic Typesetting" pitchFamily="66" charset="-78"/>
                <a:cs typeface="Arabic Typesetting" pitchFamily="66" charset="-78"/>
              </a:rPr>
              <a:t>Silabus</a:t>
            </a:r>
            <a:endParaRPr lang="en-US" sz="6000" dirty="0" smtClean="0">
              <a:latin typeface="Arabic Typesetting" pitchFamily="66" charset="-78"/>
              <a:cs typeface="Arabic Typesetting" pitchFamily="66" charset="-78"/>
            </a:endParaRPr>
          </a:p>
        </p:txBody>
      </p:sp>
      <p:cxnSp>
        <p:nvCxnSpPr>
          <p:cNvPr id="31" name="Straight Connector 30"/>
          <p:cNvCxnSpPr/>
          <p:nvPr/>
        </p:nvCxnSpPr>
        <p:spPr>
          <a:xfrm>
            <a:off x="1905000" y="1219200"/>
            <a:ext cx="55626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1905000" y="1295400"/>
            <a:ext cx="55626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609600" y="1524000"/>
            <a:ext cx="8229600" cy="432511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 sz="2800" dirty="0" smtClean="0"/>
          </a:p>
          <a:p>
            <a:pPr marL="0" indent="0">
              <a:buNone/>
            </a:pPr>
            <a:r>
              <a:rPr lang="en-US" sz="2800" b="1" dirty="0"/>
              <a:t>01. </a:t>
            </a:r>
            <a:r>
              <a:rPr lang="en-US" dirty="0" err="1"/>
              <a:t>Perkenalan</a:t>
            </a:r>
            <a:r>
              <a:rPr lang="en-US" dirty="0"/>
              <a:t>, </a:t>
            </a:r>
            <a:r>
              <a:rPr lang="en-US" dirty="0" err="1"/>
              <a:t>Silabus</a:t>
            </a:r>
            <a:r>
              <a:rPr lang="en-US" dirty="0"/>
              <a:t>, </a:t>
            </a:r>
            <a:r>
              <a:rPr lang="en-US" dirty="0" err="1"/>
              <a:t>Kontrak</a:t>
            </a:r>
            <a:r>
              <a:rPr lang="en-US" dirty="0"/>
              <a:t> </a:t>
            </a:r>
            <a:r>
              <a:rPr lang="en-US" dirty="0" err="1" smtClean="0"/>
              <a:t>Perkuliahan</a:t>
            </a:r>
            <a:r>
              <a:rPr lang="en-US" dirty="0" smtClean="0"/>
              <a:t>, </a:t>
            </a:r>
            <a:r>
              <a:rPr lang="en-US" dirty="0" err="1" smtClean="0"/>
              <a:t>Pengantar</a:t>
            </a:r>
            <a:r>
              <a:rPr lang="en-US" dirty="0" smtClean="0"/>
              <a:t> AI</a:t>
            </a:r>
            <a:endParaRPr lang="en-US" dirty="0"/>
          </a:p>
          <a:p>
            <a:pPr marL="0" indent="0">
              <a:buNone/>
            </a:pPr>
            <a:r>
              <a:rPr lang="en-US" sz="2800" b="1" dirty="0" smtClean="0"/>
              <a:t>02. </a:t>
            </a:r>
            <a:r>
              <a:rPr lang="en-US" sz="3000" dirty="0"/>
              <a:t>Intelligent Agent</a:t>
            </a:r>
          </a:p>
          <a:p>
            <a:pPr marL="0" indent="0">
              <a:buNone/>
            </a:pPr>
            <a:r>
              <a:rPr lang="en-US" sz="2800" b="1" dirty="0" smtClean="0"/>
              <a:t>03. </a:t>
            </a:r>
            <a:r>
              <a:rPr lang="en-US" sz="3000" dirty="0" err="1"/>
              <a:t>Konsep</a:t>
            </a:r>
            <a:r>
              <a:rPr lang="en-US" sz="3000" dirty="0"/>
              <a:t> Searching</a:t>
            </a:r>
          </a:p>
          <a:p>
            <a:pPr marL="0" indent="0">
              <a:buNone/>
            </a:pPr>
            <a:r>
              <a:rPr lang="en-US" sz="2800" b="1" dirty="0" smtClean="0"/>
              <a:t>04. </a:t>
            </a:r>
            <a:r>
              <a:rPr lang="en-US" sz="3000" dirty="0" err="1"/>
              <a:t>Konsep</a:t>
            </a:r>
            <a:r>
              <a:rPr lang="en-US" sz="3000" dirty="0"/>
              <a:t> Learning</a:t>
            </a:r>
          </a:p>
          <a:p>
            <a:pPr marL="0" indent="0">
              <a:buNone/>
            </a:pPr>
            <a:r>
              <a:rPr lang="en-US" sz="2800" b="1" dirty="0" smtClean="0"/>
              <a:t>05. </a:t>
            </a:r>
            <a:r>
              <a:rPr lang="en-US" sz="3000" dirty="0" err="1"/>
              <a:t>Konsep</a:t>
            </a:r>
            <a:r>
              <a:rPr lang="en-US" sz="3000" dirty="0"/>
              <a:t> Reasoning &amp; Planning</a:t>
            </a:r>
          </a:p>
          <a:p>
            <a:pPr marL="0" indent="0">
              <a:buNone/>
            </a:pPr>
            <a:r>
              <a:rPr lang="en-US" sz="2800" b="1" dirty="0" smtClean="0"/>
              <a:t>06. </a:t>
            </a:r>
            <a:r>
              <a:rPr lang="en-US" sz="3000" dirty="0"/>
              <a:t>Knowledge </a:t>
            </a:r>
            <a:r>
              <a:rPr lang="en-US" sz="3000" dirty="0" smtClean="0"/>
              <a:t>Representation</a:t>
            </a:r>
          </a:p>
          <a:p>
            <a:pPr marL="0" indent="0">
              <a:buNone/>
            </a:pPr>
            <a:r>
              <a:rPr lang="en-US" sz="2800" b="1" dirty="0" smtClean="0"/>
              <a:t>07. </a:t>
            </a:r>
            <a:r>
              <a:rPr lang="en-US" sz="3000" dirty="0" smtClean="0"/>
              <a:t>Quiz</a:t>
            </a:r>
            <a:endParaRPr lang="en-US" sz="3000" dirty="0"/>
          </a:p>
          <a:p>
            <a:pPr marL="0" indent="0">
              <a:buNone/>
            </a:pPr>
            <a:r>
              <a:rPr lang="en-US" sz="2800" b="1" dirty="0" smtClean="0"/>
              <a:t>08</a:t>
            </a:r>
            <a:r>
              <a:rPr lang="en-US" sz="2800" b="1" dirty="0"/>
              <a:t>. </a:t>
            </a:r>
            <a:r>
              <a:rPr lang="en-US" sz="3000" dirty="0"/>
              <a:t>UTS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255387"/>
            <a:ext cx="7772400" cy="1143000"/>
          </a:xfrm>
        </p:spPr>
        <p:txBody>
          <a:bodyPr>
            <a:normAutofit/>
          </a:bodyPr>
          <a:lstStyle/>
          <a:p>
            <a:r>
              <a:rPr lang="en-US" sz="4800" dirty="0" err="1" smtClean="0">
                <a:latin typeface="Arabic Typesetting" pitchFamily="66" charset="-78"/>
                <a:cs typeface="Arabic Typesetting" pitchFamily="66" charset="-78"/>
              </a:rPr>
              <a:t>Silabus</a:t>
            </a:r>
            <a:endParaRPr lang="en-US" sz="6000" dirty="0" smtClean="0">
              <a:latin typeface="Arabic Typesetting" pitchFamily="66" charset="-78"/>
              <a:cs typeface="Arabic Typesetting" pitchFamily="66" charset="-78"/>
            </a:endParaRPr>
          </a:p>
        </p:txBody>
      </p:sp>
      <p:cxnSp>
        <p:nvCxnSpPr>
          <p:cNvPr id="31" name="Straight Connector 30"/>
          <p:cNvCxnSpPr/>
          <p:nvPr/>
        </p:nvCxnSpPr>
        <p:spPr>
          <a:xfrm>
            <a:off x="1905000" y="1219200"/>
            <a:ext cx="55626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1905000" y="1295400"/>
            <a:ext cx="55626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609600" y="1524000"/>
            <a:ext cx="8229600" cy="432511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US" sz="2800" dirty="0" smtClean="0"/>
          </a:p>
          <a:p>
            <a:pPr marL="0" indent="0">
              <a:buNone/>
            </a:pPr>
            <a:r>
              <a:rPr lang="en-US" sz="2800" b="1" dirty="0"/>
              <a:t>09. </a:t>
            </a:r>
            <a:r>
              <a:rPr lang="en-US" dirty="0" smtClean="0"/>
              <a:t>A* </a:t>
            </a:r>
            <a:r>
              <a:rPr lang="en-US" dirty="0"/>
              <a:t>/ </a:t>
            </a:r>
            <a:r>
              <a:rPr lang="en-US" dirty="0" err="1"/>
              <a:t>Djikstra</a:t>
            </a:r>
            <a:endParaRPr lang="en-US" dirty="0"/>
          </a:p>
          <a:p>
            <a:pPr marL="0" indent="0">
              <a:buNone/>
            </a:pPr>
            <a:r>
              <a:rPr lang="en-US" sz="2800" b="1" dirty="0" smtClean="0"/>
              <a:t>10. </a:t>
            </a:r>
            <a:r>
              <a:rPr lang="en-US" dirty="0"/>
              <a:t>D</a:t>
            </a:r>
            <a:r>
              <a:rPr lang="en-US" dirty="0" smtClean="0"/>
              <a:t>ecision Tree </a:t>
            </a:r>
          </a:p>
          <a:p>
            <a:pPr marL="0" indent="0">
              <a:buNone/>
            </a:pPr>
            <a:r>
              <a:rPr lang="en-US" sz="2800" b="1" dirty="0" smtClean="0"/>
              <a:t>11.</a:t>
            </a:r>
            <a:r>
              <a:rPr lang="en-US" dirty="0" smtClean="0"/>
              <a:t> Bayesian </a:t>
            </a:r>
            <a:r>
              <a:rPr lang="en-US" dirty="0"/>
              <a:t>(Naive Bayes)</a:t>
            </a:r>
          </a:p>
          <a:p>
            <a:pPr marL="0" indent="0">
              <a:buNone/>
            </a:pPr>
            <a:r>
              <a:rPr lang="en-US" sz="2800" b="1" dirty="0" smtClean="0"/>
              <a:t>12. </a:t>
            </a:r>
            <a:r>
              <a:rPr lang="en-US" sz="3000" dirty="0" smtClean="0"/>
              <a:t>Fuzzy</a:t>
            </a:r>
            <a:endParaRPr lang="en-US" sz="3000" dirty="0"/>
          </a:p>
          <a:p>
            <a:pPr marL="0" indent="0">
              <a:buNone/>
            </a:pPr>
            <a:r>
              <a:rPr lang="en-US" sz="2800" b="1" dirty="0" smtClean="0"/>
              <a:t>13. </a:t>
            </a:r>
            <a:r>
              <a:rPr lang="en-US" sz="3000" dirty="0" smtClean="0"/>
              <a:t>NN (LVQ)</a:t>
            </a:r>
            <a:endParaRPr lang="en-US" sz="3000" dirty="0"/>
          </a:p>
          <a:p>
            <a:pPr marL="0" indent="0">
              <a:buNone/>
            </a:pPr>
            <a:r>
              <a:rPr lang="en-US" sz="2800" b="1" dirty="0" smtClean="0"/>
              <a:t>14. </a:t>
            </a:r>
            <a:r>
              <a:rPr lang="en-US" sz="3000" dirty="0" smtClean="0"/>
              <a:t>K-Means</a:t>
            </a:r>
          </a:p>
          <a:p>
            <a:pPr marL="0" indent="0">
              <a:buNone/>
            </a:pPr>
            <a:r>
              <a:rPr lang="en-US" sz="2800" b="1" dirty="0" smtClean="0"/>
              <a:t>15. </a:t>
            </a:r>
            <a:r>
              <a:rPr lang="en-US" sz="3000" dirty="0" smtClean="0"/>
              <a:t>Quiz</a:t>
            </a:r>
            <a:endParaRPr lang="en-US" sz="3000" dirty="0"/>
          </a:p>
          <a:p>
            <a:pPr marL="0" indent="0">
              <a:buNone/>
            </a:pPr>
            <a:r>
              <a:rPr lang="en-US" sz="2800" b="1" dirty="0" smtClean="0"/>
              <a:t>16</a:t>
            </a:r>
            <a:r>
              <a:rPr lang="en-US" sz="2800" b="1" dirty="0"/>
              <a:t>. </a:t>
            </a:r>
            <a:r>
              <a:rPr lang="en-US" sz="3000" dirty="0"/>
              <a:t>UAS</a:t>
            </a:r>
          </a:p>
        </p:txBody>
      </p:sp>
    </p:spTree>
    <p:extLst>
      <p:ext uri="{BB962C8B-B14F-4D97-AF65-F5344CB8AC3E}">
        <p14:creationId xmlns:p14="http://schemas.microsoft.com/office/powerpoint/2010/main" val="3066402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255387"/>
            <a:ext cx="7772400" cy="1143000"/>
          </a:xfrm>
        </p:spPr>
        <p:txBody>
          <a:bodyPr>
            <a:normAutofit/>
          </a:bodyPr>
          <a:lstStyle/>
          <a:p>
            <a:r>
              <a:rPr lang="en-US" sz="4800" dirty="0" err="1" smtClean="0">
                <a:latin typeface="Arabic Typesetting" pitchFamily="66" charset="-78"/>
                <a:cs typeface="Arabic Typesetting" pitchFamily="66" charset="-78"/>
              </a:rPr>
              <a:t>Referensi</a:t>
            </a:r>
            <a:endParaRPr lang="en-US" sz="6000" dirty="0" smtClean="0">
              <a:latin typeface="Arabic Typesetting" pitchFamily="66" charset="-78"/>
              <a:cs typeface="Arabic Typesetting" pitchFamily="66" charset="-78"/>
            </a:endParaRPr>
          </a:p>
        </p:txBody>
      </p:sp>
      <p:cxnSp>
        <p:nvCxnSpPr>
          <p:cNvPr id="31" name="Straight Connector 30"/>
          <p:cNvCxnSpPr/>
          <p:nvPr/>
        </p:nvCxnSpPr>
        <p:spPr>
          <a:xfrm>
            <a:off x="1905000" y="1219200"/>
            <a:ext cx="55626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1905000" y="1295400"/>
            <a:ext cx="55626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609600" y="1524000"/>
            <a:ext cx="8229600" cy="432511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800" dirty="0" smtClean="0"/>
          </a:p>
          <a:p>
            <a:r>
              <a:rPr lang="en-US" sz="2800" dirty="0" smtClean="0"/>
              <a:t>Russell, S., </a:t>
            </a:r>
            <a:r>
              <a:rPr lang="en-US" sz="2800" dirty="0" err="1" smtClean="0"/>
              <a:t>Norvig</a:t>
            </a:r>
            <a:r>
              <a:rPr lang="en-US" sz="2800" dirty="0" smtClean="0"/>
              <a:t>, P. </a:t>
            </a:r>
            <a:r>
              <a:rPr lang="en-US" sz="2800" i="1" dirty="0" smtClean="0"/>
              <a:t>Artificial Intelligence A Modern Approach (Third Edition)</a:t>
            </a:r>
            <a:r>
              <a:rPr lang="en-US" sz="2800" dirty="0" smtClean="0"/>
              <a:t>. 2010. Pearson </a:t>
            </a:r>
            <a:r>
              <a:rPr lang="en-US" sz="2800" dirty="0"/>
              <a:t>Education, USA</a:t>
            </a:r>
            <a:r>
              <a:rPr lang="en-US" sz="2800" dirty="0" smtClean="0"/>
              <a:t>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117563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274638"/>
            <a:ext cx="7543800" cy="1143000"/>
          </a:xfrm>
        </p:spPr>
        <p:txBody>
          <a:bodyPr>
            <a:normAutofit/>
          </a:bodyPr>
          <a:lstStyle/>
          <a:p>
            <a:r>
              <a:rPr lang="en-US" sz="4800" dirty="0" err="1" smtClean="0">
                <a:latin typeface="Arabic Typesetting" pitchFamily="66" charset="-78"/>
                <a:cs typeface="Arabic Typesetting" pitchFamily="66" charset="-78"/>
              </a:rPr>
              <a:t>Penilaian</a:t>
            </a:r>
            <a:endParaRPr lang="en-US" sz="6000" dirty="0" smtClean="0">
              <a:latin typeface="Arabic Typesetting" pitchFamily="66" charset="-78"/>
              <a:cs typeface="Arabic Typesetting" pitchFamily="66" charset="-78"/>
            </a:endParaRPr>
          </a:p>
        </p:txBody>
      </p:sp>
      <p:cxnSp>
        <p:nvCxnSpPr>
          <p:cNvPr id="31" name="Straight Connector 30"/>
          <p:cNvCxnSpPr/>
          <p:nvPr/>
        </p:nvCxnSpPr>
        <p:spPr>
          <a:xfrm>
            <a:off x="2209800" y="1219200"/>
            <a:ext cx="55626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2209800" y="1295400"/>
            <a:ext cx="55626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325112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 smtClean="0">
                <a:solidFill>
                  <a:srgbClr val="FF0000"/>
                </a:solidFill>
                <a:latin typeface="Arial" panose="020B0604020202020204" pitchFamily="34" charset="0"/>
                <a:ea typeface="Kozuka Gothic Pro H" pitchFamily="34" charset="-128"/>
                <a:cs typeface="Arial" panose="020B0604020202020204" pitchFamily="34" charset="0"/>
              </a:rPr>
              <a:t>TIDAK ADA </a:t>
            </a:r>
            <a:r>
              <a:rPr lang="en-US" sz="2800" b="1" dirty="0" smtClean="0">
                <a:solidFill>
                  <a:schemeClr val="tx2"/>
                </a:solidFill>
                <a:latin typeface="Arial" panose="020B0604020202020204" pitchFamily="34" charset="0"/>
                <a:ea typeface="Kozuka Gothic Pro H" pitchFamily="34" charset="-128"/>
                <a:cs typeface="Arial" panose="020B0604020202020204" pitchFamily="34" charset="0"/>
              </a:rPr>
              <a:t>TUGAS &amp; UJIAN SUSULAN </a:t>
            </a:r>
            <a:r>
              <a:rPr lang="en-US" sz="2800" b="1" dirty="0" smtClean="0">
                <a:solidFill>
                  <a:srgbClr val="FF0000"/>
                </a:solidFill>
                <a:latin typeface="Arial" panose="020B0604020202020204" pitchFamily="34" charset="0"/>
                <a:ea typeface="Kozuka Gothic Pro H" pitchFamily="34" charset="-128"/>
                <a:cs typeface="Arial" panose="020B0604020202020204" pitchFamily="34" charset="0"/>
              </a:rPr>
              <a:t>!!!</a:t>
            </a:r>
            <a:endParaRPr lang="en-US" sz="2800" b="1" dirty="0" smtClean="0">
              <a:solidFill>
                <a:schemeClr val="tx2"/>
              </a:solidFill>
              <a:latin typeface="Arial" panose="020B0604020202020204" pitchFamily="34" charset="0"/>
              <a:ea typeface="Kozuka Gothic Pro H" pitchFamily="34" charset="-128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2800" b="1" dirty="0" smtClean="0">
                <a:solidFill>
                  <a:srgbClr val="FF0000"/>
                </a:solidFill>
                <a:latin typeface="Arial" panose="020B0604020202020204" pitchFamily="34" charset="0"/>
                <a:ea typeface="Kozuka Gothic Pro H" pitchFamily="34" charset="-128"/>
                <a:cs typeface="Arial" panose="020B0604020202020204" pitchFamily="34" charset="0"/>
              </a:rPr>
              <a:t>TIDAK ADA </a:t>
            </a:r>
            <a:r>
              <a:rPr lang="en-US" sz="2800" b="1" dirty="0" smtClean="0">
                <a:solidFill>
                  <a:schemeClr val="tx2"/>
                </a:solidFill>
                <a:latin typeface="Arial" panose="020B0604020202020204" pitchFamily="34" charset="0"/>
                <a:ea typeface="Kozuka Gothic Pro H" pitchFamily="34" charset="-128"/>
                <a:cs typeface="Arial" panose="020B0604020202020204" pitchFamily="34" charset="0"/>
              </a:rPr>
              <a:t>UJIAN PERBAIKAN </a:t>
            </a:r>
            <a:r>
              <a:rPr lang="en-US" sz="2800" b="1" dirty="0" smtClean="0">
                <a:solidFill>
                  <a:srgbClr val="FF0000"/>
                </a:solidFill>
                <a:latin typeface="Arial" panose="020B0604020202020204" pitchFamily="34" charset="0"/>
                <a:ea typeface="Kozuka Gothic Pro H" pitchFamily="34" charset="-128"/>
                <a:cs typeface="Arial" panose="020B0604020202020204" pitchFamily="34" charset="0"/>
              </a:rPr>
              <a:t>!!!</a:t>
            </a:r>
          </a:p>
          <a:p>
            <a:pPr>
              <a:buNone/>
            </a:pPr>
            <a:endParaRPr lang="en-US" sz="2800" b="1" dirty="0" smtClean="0">
              <a:solidFill>
                <a:srgbClr val="FF0000"/>
              </a:solidFill>
              <a:latin typeface="Arial" panose="020B0604020202020204" pitchFamily="34" charset="0"/>
              <a:ea typeface="Kozuka Gothic Pro H" pitchFamily="34" charset="-128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800" dirty="0" err="1" smtClean="0">
                <a:solidFill>
                  <a:srgbClr val="C00000"/>
                </a:solidFill>
                <a:latin typeface="Arial" panose="020B0604020202020204" pitchFamily="34" charset="0"/>
                <a:ea typeface="Kozuka Gothic Pro H" pitchFamily="34" charset="-128"/>
                <a:cs typeface="Arial" panose="020B0604020202020204" pitchFamily="34" charset="0"/>
              </a:rPr>
              <a:t>Absensi</a:t>
            </a:r>
            <a:r>
              <a:rPr lang="en-US" sz="2800" dirty="0" smtClean="0">
                <a:solidFill>
                  <a:srgbClr val="C00000"/>
                </a:solidFill>
                <a:latin typeface="Arial" panose="020B0604020202020204" pitchFamily="34" charset="0"/>
                <a:ea typeface="Kozuka Gothic Pro H" pitchFamily="34" charset="-128"/>
                <a:cs typeface="Arial" panose="020B0604020202020204" pitchFamily="34" charset="0"/>
              </a:rPr>
              <a:t>		: 0 %</a:t>
            </a:r>
          </a:p>
          <a:p>
            <a:pPr>
              <a:lnSpc>
                <a:spcPct val="150000"/>
              </a:lnSpc>
            </a:pPr>
            <a:r>
              <a:rPr lang="en-US" sz="2800" dirty="0" smtClean="0">
                <a:latin typeface="Arial" panose="020B0604020202020204" pitchFamily="34" charset="0"/>
                <a:ea typeface="Kozuka Gothic Pro H" pitchFamily="34" charset="-128"/>
                <a:cs typeface="Arial" panose="020B0604020202020204" pitchFamily="34" charset="0"/>
              </a:rPr>
              <a:t>Quiz &amp; </a:t>
            </a:r>
            <a:r>
              <a:rPr lang="en-US" sz="2800" dirty="0" err="1" smtClean="0">
                <a:latin typeface="Arial" panose="020B0604020202020204" pitchFamily="34" charset="0"/>
                <a:ea typeface="Kozuka Gothic Pro H" pitchFamily="34" charset="-128"/>
                <a:cs typeface="Arial" panose="020B0604020202020204" pitchFamily="34" charset="0"/>
              </a:rPr>
              <a:t>Tugas</a:t>
            </a:r>
            <a:r>
              <a:rPr lang="en-US" sz="2800" dirty="0" smtClean="0">
                <a:latin typeface="Arial" panose="020B0604020202020204" pitchFamily="34" charset="0"/>
                <a:ea typeface="Kozuka Gothic Pro H" pitchFamily="34" charset="-128"/>
                <a:cs typeface="Arial" panose="020B0604020202020204" pitchFamily="34" charset="0"/>
              </a:rPr>
              <a:t>	: 40%</a:t>
            </a:r>
          </a:p>
          <a:p>
            <a:pPr>
              <a:lnSpc>
                <a:spcPct val="150000"/>
              </a:lnSpc>
            </a:pPr>
            <a:r>
              <a:rPr lang="en-US" sz="2800" dirty="0" smtClean="0">
                <a:latin typeface="Arial" panose="020B0604020202020204" pitchFamily="34" charset="0"/>
                <a:ea typeface="Kozuka Gothic Pro H" pitchFamily="34" charset="-128"/>
                <a:cs typeface="Arial" panose="020B0604020202020204" pitchFamily="34" charset="0"/>
              </a:rPr>
              <a:t>UTS		: 30%</a:t>
            </a:r>
          </a:p>
          <a:p>
            <a:pPr>
              <a:lnSpc>
                <a:spcPct val="150000"/>
              </a:lnSpc>
            </a:pPr>
            <a:r>
              <a:rPr lang="en-US" sz="2800" dirty="0" smtClean="0">
                <a:latin typeface="Arial" panose="020B0604020202020204" pitchFamily="34" charset="0"/>
                <a:ea typeface="Kozuka Gothic Pro H" pitchFamily="34" charset="-128"/>
                <a:cs typeface="Arial" panose="020B0604020202020204" pitchFamily="34" charset="0"/>
              </a:rPr>
              <a:t>UAS		: 30%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1910700"/>
              </p:ext>
            </p:extLst>
          </p:nvPr>
        </p:nvGraphicFramePr>
        <p:xfrm>
          <a:off x="5029200" y="3048000"/>
          <a:ext cx="3566160" cy="3200400"/>
        </p:xfrm>
        <a:graphic>
          <a:graphicData uri="http://schemas.openxmlformats.org/drawingml/2006/table">
            <a:tbl>
              <a:tblPr/>
              <a:tblGrid>
                <a:gridCol w="2333968"/>
                <a:gridCol w="1232192"/>
              </a:tblGrid>
              <a:tr h="640080">
                <a:tc>
                  <a:txBody>
                    <a:bodyPr/>
                    <a:lstStyle/>
                    <a:p>
                      <a:pPr marL="34290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Times New Roman"/>
                          <a:ea typeface="Times New Roman"/>
                        </a:rPr>
                        <a:t>80 </a:t>
                      </a:r>
                      <a:r>
                        <a:rPr lang="en-US" sz="2400" b="1" dirty="0">
                          <a:latin typeface="Times New Roman"/>
                          <a:ea typeface="Times New Roman"/>
                          <a:sym typeface="Symbol"/>
                        </a:rPr>
                        <a:t></a:t>
                      </a:r>
                      <a:r>
                        <a:rPr lang="en-US" sz="2400" b="1" dirty="0"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sz="2400" b="0" dirty="0">
                          <a:latin typeface="Times New Roman"/>
                          <a:ea typeface="Times New Roman"/>
                        </a:rPr>
                        <a:t>NA</a:t>
                      </a:r>
                      <a:r>
                        <a:rPr lang="en-US" sz="2400" b="1" dirty="0"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sz="2400" b="1" dirty="0">
                          <a:latin typeface="Times New Roman"/>
                          <a:ea typeface="Times New Roman"/>
                          <a:sym typeface="Symbol"/>
                        </a:rPr>
                        <a:t></a:t>
                      </a:r>
                      <a:r>
                        <a:rPr lang="en-US" sz="2400" b="1" dirty="0">
                          <a:latin typeface="Times New Roman"/>
                          <a:ea typeface="Times New Roman"/>
                        </a:rPr>
                        <a:t> 100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800" b="1" dirty="0">
                          <a:latin typeface="Times New Roman"/>
                          <a:ea typeface="Times New Roman"/>
                        </a:rPr>
                        <a:t>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34290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Times New Roman"/>
                          <a:ea typeface="Times New Roman"/>
                        </a:rPr>
                        <a:t>68 </a:t>
                      </a:r>
                      <a:r>
                        <a:rPr lang="en-US" sz="2400" b="1" dirty="0">
                          <a:latin typeface="Times New Roman"/>
                          <a:ea typeface="Times New Roman"/>
                          <a:sym typeface="Symbol"/>
                        </a:rPr>
                        <a:t></a:t>
                      </a:r>
                      <a:r>
                        <a:rPr lang="en-US" sz="2400" b="1" dirty="0"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sz="2400" b="0" dirty="0">
                          <a:latin typeface="Times New Roman"/>
                          <a:ea typeface="Times New Roman"/>
                        </a:rPr>
                        <a:t>NA</a:t>
                      </a:r>
                      <a:r>
                        <a:rPr lang="en-US" sz="2400" b="1" dirty="0"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sz="2400" b="1" dirty="0">
                          <a:latin typeface="Times New Roman"/>
                          <a:ea typeface="Times New Roman"/>
                          <a:sym typeface="Symbol"/>
                        </a:rPr>
                        <a:t></a:t>
                      </a:r>
                      <a:r>
                        <a:rPr lang="en-US" sz="2400" b="1" dirty="0">
                          <a:latin typeface="Times New Roman"/>
                          <a:ea typeface="Times New Roman"/>
                        </a:rPr>
                        <a:t> 79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800" b="1" dirty="0">
                          <a:latin typeface="Times New Roman"/>
                          <a:ea typeface="Times New Roman"/>
                        </a:rPr>
                        <a:t>B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34290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Times New Roman"/>
                          <a:ea typeface="Times New Roman"/>
                        </a:rPr>
                        <a:t>56 </a:t>
                      </a:r>
                      <a:r>
                        <a:rPr lang="en-US" sz="2400" b="1" dirty="0">
                          <a:latin typeface="Times New Roman"/>
                          <a:ea typeface="Times New Roman"/>
                          <a:sym typeface="Symbol"/>
                        </a:rPr>
                        <a:t></a:t>
                      </a:r>
                      <a:r>
                        <a:rPr lang="en-US" sz="2400" b="1" dirty="0"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sz="2400" b="0" dirty="0">
                          <a:latin typeface="Times New Roman"/>
                          <a:ea typeface="Times New Roman"/>
                        </a:rPr>
                        <a:t>NA</a:t>
                      </a:r>
                      <a:r>
                        <a:rPr lang="en-US" sz="2400" b="1" dirty="0"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sz="2400" b="1" dirty="0">
                          <a:latin typeface="Times New Roman"/>
                          <a:ea typeface="Times New Roman"/>
                          <a:sym typeface="Symbol"/>
                        </a:rPr>
                        <a:t></a:t>
                      </a:r>
                      <a:r>
                        <a:rPr lang="en-US" sz="2400" b="1" dirty="0">
                          <a:latin typeface="Times New Roman"/>
                          <a:ea typeface="Times New Roman"/>
                        </a:rPr>
                        <a:t> 67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800" b="1" dirty="0">
                          <a:latin typeface="Times New Roman"/>
                          <a:ea typeface="Times New Roman"/>
                        </a:rPr>
                        <a:t>C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34290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Times New Roman"/>
                          <a:ea typeface="Times New Roman"/>
                        </a:rPr>
                        <a:t>40 </a:t>
                      </a:r>
                      <a:r>
                        <a:rPr lang="en-US" sz="2400" b="1" dirty="0">
                          <a:latin typeface="Times New Roman"/>
                          <a:ea typeface="Times New Roman"/>
                          <a:sym typeface="Symbol"/>
                        </a:rPr>
                        <a:t></a:t>
                      </a:r>
                      <a:r>
                        <a:rPr lang="en-US" sz="2400" b="1" dirty="0"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sz="2400" b="0" dirty="0">
                          <a:latin typeface="Times New Roman"/>
                          <a:ea typeface="Times New Roman"/>
                        </a:rPr>
                        <a:t>NA</a:t>
                      </a:r>
                      <a:r>
                        <a:rPr lang="en-US" sz="2400" b="1" dirty="0"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sz="2400" b="1" dirty="0">
                          <a:latin typeface="Times New Roman"/>
                          <a:ea typeface="Times New Roman"/>
                          <a:sym typeface="Symbol"/>
                        </a:rPr>
                        <a:t></a:t>
                      </a:r>
                      <a:r>
                        <a:rPr lang="en-US" sz="2400" b="1" dirty="0">
                          <a:latin typeface="Times New Roman"/>
                          <a:ea typeface="Times New Roman"/>
                        </a:rPr>
                        <a:t> 55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800" b="1" dirty="0">
                          <a:latin typeface="Times New Roman"/>
                          <a:ea typeface="Times New Roman"/>
                        </a:rPr>
                        <a:t>D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34290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 smtClean="0">
                          <a:latin typeface="Times New Roman"/>
                          <a:ea typeface="Times New Roman"/>
                        </a:rPr>
                        <a:t> 0 </a:t>
                      </a:r>
                      <a:r>
                        <a:rPr lang="en-US" sz="2400" b="1" dirty="0">
                          <a:latin typeface="Times New Roman"/>
                          <a:ea typeface="Times New Roman"/>
                          <a:sym typeface="Symbol"/>
                        </a:rPr>
                        <a:t></a:t>
                      </a:r>
                      <a:r>
                        <a:rPr lang="en-US" sz="2400" b="1" dirty="0"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sz="2400" b="0" dirty="0">
                          <a:latin typeface="Times New Roman"/>
                          <a:ea typeface="Times New Roman"/>
                        </a:rPr>
                        <a:t>NA</a:t>
                      </a:r>
                      <a:r>
                        <a:rPr lang="en-US" sz="2400" b="1" dirty="0"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sz="2400" b="1" dirty="0">
                          <a:latin typeface="Times New Roman"/>
                          <a:ea typeface="Times New Roman"/>
                          <a:sym typeface="Symbol"/>
                        </a:rPr>
                        <a:t></a:t>
                      </a:r>
                      <a:r>
                        <a:rPr lang="en-US" sz="2400" b="1" dirty="0">
                          <a:latin typeface="Times New Roman"/>
                          <a:ea typeface="Times New Roman"/>
                        </a:rPr>
                        <a:t> 39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800" b="1" dirty="0">
                          <a:latin typeface="Times New Roman"/>
                          <a:ea typeface="Times New Roman"/>
                        </a:rPr>
                        <a:t>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4638"/>
            <a:ext cx="7543800" cy="1143000"/>
          </a:xfrm>
        </p:spPr>
        <p:txBody>
          <a:bodyPr>
            <a:normAutofit/>
          </a:bodyPr>
          <a:lstStyle/>
          <a:p>
            <a:r>
              <a:rPr lang="en-US" sz="4800" dirty="0" smtClean="0">
                <a:latin typeface="Arabic Typesetting" pitchFamily="66" charset="-78"/>
                <a:cs typeface="Arabic Typesetting" pitchFamily="66" charset="-78"/>
              </a:rPr>
              <a:t>UTS &amp; UAS</a:t>
            </a:r>
          </a:p>
        </p:txBody>
      </p:sp>
      <p:cxnSp>
        <p:nvCxnSpPr>
          <p:cNvPr id="31" name="Straight Connector 30"/>
          <p:cNvCxnSpPr/>
          <p:nvPr/>
        </p:nvCxnSpPr>
        <p:spPr>
          <a:xfrm>
            <a:off x="1752600" y="1219200"/>
            <a:ext cx="55626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1752600" y="1295400"/>
            <a:ext cx="55626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304800" y="1542288"/>
            <a:ext cx="8229600" cy="5010912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sz="2800" b="1" dirty="0" smtClean="0">
                <a:solidFill>
                  <a:srgbClr val="FF0000"/>
                </a:solidFill>
                <a:latin typeface="Arial" panose="020B0604020202020204" pitchFamily="34" charset="0"/>
                <a:ea typeface="Kozuka Gothic Pro H" pitchFamily="34" charset="-128"/>
                <a:cs typeface="Arial" panose="020B0604020202020204" pitchFamily="34" charset="0"/>
              </a:rPr>
              <a:t>WAJIB </a:t>
            </a:r>
            <a:r>
              <a:rPr lang="en-US" sz="2800" b="1" dirty="0" smtClean="0">
                <a:solidFill>
                  <a:schemeClr val="tx2"/>
                </a:solidFill>
                <a:latin typeface="Arial" panose="020B0604020202020204" pitchFamily="34" charset="0"/>
                <a:ea typeface="Kozuka Gothic Pro H" pitchFamily="34" charset="-128"/>
                <a:cs typeface="Arial" panose="020B0604020202020204" pitchFamily="34" charset="0"/>
              </a:rPr>
              <a:t>MENGENAKAN </a:t>
            </a:r>
            <a:r>
              <a:rPr lang="en-US" sz="2800" b="1" dirty="0" smtClean="0">
                <a:solidFill>
                  <a:srgbClr val="FF0000"/>
                </a:solidFill>
                <a:latin typeface="Arial" panose="020B0604020202020204" pitchFamily="34" charset="0"/>
                <a:ea typeface="Kozuka Gothic Pro H" pitchFamily="34" charset="-128"/>
                <a:cs typeface="Arial" panose="020B0604020202020204" pitchFamily="34" charset="0"/>
              </a:rPr>
              <a:t>JAS ALMAMATER </a:t>
            </a:r>
            <a:r>
              <a:rPr lang="en-US" sz="2800" b="1" dirty="0" smtClean="0">
                <a:solidFill>
                  <a:schemeClr val="tx2"/>
                </a:solidFill>
                <a:latin typeface="Arial" panose="020B0604020202020204" pitchFamily="34" charset="0"/>
                <a:ea typeface="Kozuka Gothic Pro H" pitchFamily="34" charset="-128"/>
                <a:cs typeface="Arial" panose="020B0604020202020204" pitchFamily="34" charset="0"/>
              </a:rPr>
              <a:t>!!!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28600"/>
            <a:ext cx="7391400" cy="1143000"/>
          </a:xfrm>
        </p:spPr>
        <p:txBody>
          <a:bodyPr>
            <a:normAutofit/>
          </a:bodyPr>
          <a:lstStyle/>
          <a:p>
            <a:r>
              <a:rPr lang="en-US" dirty="0" err="1" smtClean="0">
                <a:latin typeface="Arabic Typesetting" pitchFamily="66" charset="-78"/>
                <a:cs typeface="Arabic Typesetting" pitchFamily="66" charset="-78"/>
              </a:rPr>
              <a:t>Metode</a:t>
            </a:r>
            <a:r>
              <a:rPr lang="en-US" dirty="0" smtClean="0">
                <a:latin typeface="Arabic Typesetting" pitchFamily="66" charset="-78"/>
                <a:cs typeface="Arabic Typesetting" pitchFamily="66" charset="-78"/>
              </a:rPr>
              <a:t> </a:t>
            </a:r>
            <a:r>
              <a:rPr lang="en-US" dirty="0" err="1" smtClean="0">
                <a:latin typeface="Arabic Typesetting" pitchFamily="66" charset="-78"/>
                <a:cs typeface="Arabic Typesetting" pitchFamily="66" charset="-78"/>
              </a:rPr>
              <a:t>Perkuliahan</a:t>
            </a:r>
            <a:endParaRPr lang="en-US" dirty="0" smtClean="0">
              <a:latin typeface="Arabic Typesetting" pitchFamily="66" charset="-78"/>
              <a:cs typeface="Arabic Typesetting" pitchFamily="66" charset="-78"/>
            </a:endParaRPr>
          </a:p>
        </p:txBody>
      </p:sp>
      <p:cxnSp>
        <p:nvCxnSpPr>
          <p:cNvPr id="31" name="Straight Connector 30"/>
          <p:cNvCxnSpPr/>
          <p:nvPr/>
        </p:nvCxnSpPr>
        <p:spPr>
          <a:xfrm>
            <a:off x="1828800" y="1219200"/>
            <a:ext cx="55626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1828800" y="1295400"/>
            <a:ext cx="55626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2" name="Picture 2" descr="D:\Desktop\kucing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57800" y="2209800"/>
            <a:ext cx="2590800" cy="2590800"/>
          </a:xfrm>
          <a:prstGeom prst="rect">
            <a:avLst/>
          </a:prstGeom>
          <a:noFill/>
        </p:spPr>
      </p:pic>
      <p:sp>
        <p:nvSpPr>
          <p:cNvPr id="11" name="TextBox 10"/>
          <p:cNvSpPr txBox="1"/>
          <p:nvPr/>
        </p:nvSpPr>
        <p:spPr>
          <a:xfrm>
            <a:off x="1295400" y="2339876"/>
            <a:ext cx="32004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ü"/>
            </a:pPr>
            <a:r>
              <a:rPr lang="en-US" sz="3200" dirty="0" smtClean="0"/>
              <a:t>  </a:t>
            </a:r>
            <a:r>
              <a:rPr lang="en-US" sz="3600" dirty="0" err="1" smtClean="0"/>
              <a:t>Ceramah</a:t>
            </a:r>
            <a:endParaRPr lang="en-US" sz="3600" dirty="0" smtClean="0"/>
          </a:p>
          <a:p>
            <a:pPr>
              <a:buFont typeface="Wingdings" pitchFamily="2" charset="2"/>
              <a:buChar char="ü"/>
            </a:pPr>
            <a:r>
              <a:rPr lang="en-US" sz="3600" dirty="0" smtClean="0"/>
              <a:t>  Quiz</a:t>
            </a:r>
          </a:p>
          <a:p>
            <a:pPr>
              <a:buFont typeface="Wingdings" pitchFamily="2" charset="2"/>
              <a:buChar char="ü"/>
            </a:pPr>
            <a:r>
              <a:rPr lang="en-US" sz="3600" dirty="0" smtClean="0"/>
              <a:t>  </a:t>
            </a:r>
            <a:r>
              <a:rPr lang="en-US" sz="3600" dirty="0" err="1" smtClean="0"/>
              <a:t>Tugas</a:t>
            </a:r>
            <a:endParaRPr lang="en-US" sz="3600" dirty="0" smtClean="0"/>
          </a:p>
          <a:p>
            <a:pPr>
              <a:buFont typeface="Wingdings" pitchFamily="2" charset="2"/>
              <a:buChar char="ü"/>
            </a:pPr>
            <a:r>
              <a:rPr lang="en-US" sz="3600" dirty="0"/>
              <a:t> </a:t>
            </a:r>
            <a:r>
              <a:rPr lang="en-US" sz="3600" dirty="0" smtClean="0"/>
              <a:t> </a:t>
            </a:r>
            <a:r>
              <a:rPr lang="en-US" sz="3600" dirty="0" err="1" smtClean="0"/>
              <a:t>Presentasi</a:t>
            </a:r>
            <a:endParaRPr lang="en-US" sz="3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274638"/>
            <a:ext cx="7543800" cy="1143000"/>
          </a:xfrm>
        </p:spPr>
        <p:txBody>
          <a:bodyPr>
            <a:normAutofit/>
          </a:bodyPr>
          <a:lstStyle/>
          <a:p>
            <a:r>
              <a:rPr lang="en-US" dirty="0" err="1" smtClean="0">
                <a:latin typeface="Arabic Typesetting" pitchFamily="66" charset="-78"/>
                <a:cs typeface="Arabic Typesetting" pitchFamily="66" charset="-78"/>
              </a:rPr>
              <a:t>Aturan</a:t>
            </a:r>
            <a:r>
              <a:rPr lang="en-US" dirty="0" smtClean="0">
                <a:latin typeface="Arabic Typesetting" pitchFamily="66" charset="-78"/>
                <a:cs typeface="Arabic Typesetting" pitchFamily="66" charset="-78"/>
              </a:rPr>
              <a:t> </a:t>
            </a:r>
            <a:r>
              <a:rPr lang="en-US" dirty="0" err="1" smtClean="0">
                <a:latin typeface="Arabic Typesetting" pitchFamily="66" charset="-78"/>
                <a:cs typeface="Arabic Typesetting" pitchFamily="66" charset="-78"/>
              </a:rPr>
              <a:t>Perkuliahan</a:t>
            </a:r>
            <a:endParaRPr lang="en-US" dirty="0" smtClean="0">
              <a:latin typeface="Arabic Typesetting" pitchFamily="66" charset="-78"/>
              <a:cs typeface="Arabic Typesetting" pitchFamily="66" charset="-78"/>
            </a:endParaRPr>
          </a:p>
        </p:txBody>
      </p:sp>
      <p:cxnSp>
        <p:nvCxnSpPr>
          <p:cNvPr id="31" name="Straight Connector 30"/>
          <p:cNvCxnSpPr/>
          <p:nvPr/>
        </p:nvCxnSpPr>
        <p:spPr>
          <a:xfrm>
            <a:off x="1676400" y="1219200"/>
            <a:ext cx="55626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1676400" y="1295400"/>
            <a:ext cx="55626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7" name="Picture 2" descr="D:\Desktop\mencontek.jpg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91050" y="2133600"/>
            <a:ext cx="3714750" cy="3529013"/>
          </a:xfrm>
          <a:prstGeom prst="rect">
            <a:avLst/>
          </a:prstGeom>
          <a:noFill/>
        </p:spPr>
      </p:pic>
      <p:pic>
        <p:nvPicPr>
          <p:cNvPr id="9" name="Picture 3" descr="D:\Desktop\no-cheating-480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162050" y="2514600"/>
            <a:ext cx="3048000" cy="3048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274638"/>
            <a:ext cx="7543800" cy="1143000"/>
          </a:xfrm>
        </p:spPr>
        <p:txBody>
          <a:bodyPr>
            <a:normAutofit/>
          </a:bodyPr>
          <a:lstStyle/>
          <a:p>
            <a:r>
              <a:rPr lang="en-US" dirty="0" err="1" smtClean="0">
                <a:latin typeface="Arabic Typesetting" pitchFamily="66" charset="-78"/>
                <a:cs typeface="Arabic Typesetting" pitchFamily="66" charset="-78"/>
              </a:rPr>
              <a:t>Aturan</a:t>
            </a:r>
            <a:r>
              <a:rPr lang="en-US" dirty="0" smtClean="0">
                <a:latin typeface="Arabic Typesetting" pitchFamily="66" charset="-78"/>
                <a:cs typeface="Arabic Typesetting" pitchFamily="66" charset="-78"/>
              </a:rPr>
              <a:t> </a:t>
            </a:r>
            <a:r>
              <a:rPr lang="en-US" dirty="0" err="1" smtClean="0">
                <a:latin typeface="Arabic Typesetting" pitchFamily="66" charset="-78"/>
                <a:cs typeface="Arabic Typesetting" pitchFamily="66" charset="-78"/>
              </a:rPr>
              <a:t>Perkuliahan</a:t>
            </a:r>
            <a:endParaRPr lang="en-US" dirty="0" smtClean="0">
              <a:latin typeface="Arabic Typesetting" pitchFamily="66" charset="-78"/>
              <a:cs typeface="Arabic Typesetting" pitchFamily="66" charset="-78"/>
            </a:endParaRPr>
          </a:p>
        </p:txBody>
      </p:sp>
      <p:cxnSp>
        <p:nvCxnSpPr>
          <p:cNvPr id="31" name="Straight Connector 30"/>
          <p:cNvCxnSpPr/>
          <p:nvPr/>
        </p:nvCxnSpPr>
        <p:spPr>
          <a:xfrm>
            <a:off x="1676400" y="1219200"/>
            <a:ext cx="55626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1676400" y="1295400"/>
            <a:ext cx="55626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000" i="1" dirty="0" err="1" smtClean="0"/>
              <a:t>Toleransi</a:t>
            </a:r>
            <a:r>
              <a:rPr lang="en-US" sz="4000" i="1" dirty="0" smtClean="0"/>
              <a:t> </a:t>
            </a:r>
            <a:r>
              <a:rPr lang="en-US" sz="4000" i="1" dirty="0" err="1" smtClean="0"/>
              <a:t>Keterlambatan</a:t>
            </a:r>
            <a:r>
              <a:rPr lang="en-US" sz="4000" i="1" dirty="0" smtClean="0"/>
              <a:t> </a:t>
            </a:r>
          </a:p>
          <a:p>
            <a:pPr marL="0" indent="0" algn="ctr">
              <a:buNone/>
            </a:pPr>
            <a:r>
              <a:rPr lang="en-US" sz="4000" i="1" dirty="0" smtClean="0"/>
              <a:t>15 MENIT</a:t>
            </a:r>
            <a:endParaRPr lang="en-US" sz="4000" i="1" dirty="0"/>
          </a:p>
        </p:txBody>
      </p:sp>
    </p:spTree>
    <p:extLst>
      <p:ext uri="{BB962C8B-B14F-4D97-AF65-F5344CB8AC3E}">
        <p14:creationId xmlns:p14="http://schemas.microsoft.com/office/powerpoint/2010/main" val="871588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828800"/>
            <a:ext cx="5181600" cy="1676400"/>
          </a:xfr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>
              <a:buNone/>
            </a:pPr>
            <a:endParaRPr lang="en-US" b="1" dirty="0" smtClean="0"/>
          </a:p>
          <a:p>
            <a:pPr algn="ctr">
              <a:buNone/>
            </a:pPr>
            <a:r>
              <a:rPr lang="en-US" sz="3600" b="1" dirty="0" smtClean="0">
                <a:latin typeface="Arial" panose="020B0604020202020204" pitchFamily="34" charset="0"/>
                <a:ea typeface="Kozuka Gothic Pro H" pitchFamily="34" charset="-128"/>
                <a:cs typeface="Arial" panose="020B0604020202020204" pitchFamily="34" charset="0"/>
              </a:rPr>
              <a:t>Ada </a:t>
            </a:r>
            <a:r>
              <a:rPr lang="en-US" sz="3600" b="1" dirty="0" err="1" smtClean="0">
                <a:latin typeface="Arial" panose="020B0604020202020204" pitchFamily="34" charset="0"/>
                <a:ea typeface="Kozuka Gothic Pro H" pitchFamily="34" charset="-128"/>
                <a:cs typeface="Arial" panose="020B0604020202020204" pitchFamily="34" charset="0"/>
              </a:rPr>
              <a:t>Pertanyaan</a:t>
            </a:r>
            <a:r>
              <a:rPr lang="en-US" sz="3600" b="1" dirty="0" smtClean="0">
                <a:latin typeface="Arial" panose="020B0604020202020204" pitchFamily="34" charset="0"/>
                <a:ea typeface="Kozuka Gothic Pro H" pitchFamily="34" charset="-128"/>
                <a:cs typeface="Arial" panose="020B0604020202020204" pitchFamily="34" charset="0"/>
              </a:rPr>
              <a:t> ???</a:t>
            </a:r>
            <a:endParaRPr lang="en-US" sz="3600" b="1" dirty="0">
              <a:latin typeface="Arial" panose="020B0604020202020204" pitchFamily="34" charset="0"/>
              <a:ea typeface="Kozuka Gothic Pro H" pitchFamily="34" charset="-128"/>
              <a:cs typeface="Arial" panose="020B0604020202020204" pitchFamily="34" charset="0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52650" y="0"/>
            <a:ext cx="4572000" cy="89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6" name="Straight Connector 5"/>
          <p:cNvCxnSpPr/>
          <p:nvPr/>
        </p:nvCxnSpPr>
        <p:spPr>
          <a:xfrm>
            <a:off x="1771650" y="4038600"/>
            <a:ext cx="55626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771650" y="4114800"/>
            <a:ext cx="55626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026" name="Picture 2" descr="D:\Desktop\tndtanya4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95650" y="4648200"/>
            <a:ext cx="2609850" cy="1752600"/>
          </a:xfrm>
          <a:prstGeom prst="rect">
            <a:avLst/>
          </a:prstGeom>
          <a:noFill/>
        </p:spPr>
      </p:pic>
      <p:pic>
        <p:nvPicPr>
          <p:cNvPr id="1027" name="Picture 3" descr="D:\Desktop\tndtanya1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810250" y="4876800"/>
            <a:ext cx="1885950" cy="1247775"/>
          </a:xfrm>
          <a:prstGeom prst="rect">
            <a:avLst/>
          </a:prstGeom>
          <a:noFill/>
        </p:spPr>
      </p:pic>
      <p:pic>
        <p:nvPicPr>
          <p:cNvPr id="1028" name="Picture 4" descr="D:\Desktop\tndtanya2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162050" y="4572000"/>
            <a:ext cx="2457450" cy="185737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8001000" cy="1143000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latin typeface="Arabic Typesetting" pitchFamily="66" charset="-78"/>
                <a:cs typeface="Arabic Typesetting" pitchFamily="66" charset="-78"/>
              </a:rPr>
              <a:t>AKTIFITAS AWAL</a:t>
            </a:r>
          </a:p>
        </p:txBody>
      </p:sp>
      <p:cxnSp>
        <p:nvCxnSpPr>
          <p:cNvPr id="31" name="Straight Connector 30"/>
          <p:cNvCxnSpPr/>
          <p:nvPr/>
        </p:nvCxnSpPr>
        <p:spPr>
          <a:xfrm>
            <a:off x="1752600" y="1219200"/>
            <a:ext cx="55626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1752600" y="1295400"/>
            <a:ext cx="55626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Content Placeholder 14"/>
          <p:cNvSpPr>
            <a:spLocks noGrp="1"/>
          </p:cNvSpPr>
          <p:nvPr>
            <p:ph idx="1"/>
          </p:nvPr>
        </p:nvSpPr>
        <p:spPr>
          <a:xfrm>
            <a:off x="1066800" y="1828800"/>
            <a:ext cx="7391400" cy="4114800"/>
          </a:xfrm>
        </p:spPr>
        <p:txBody>
          <a:bodyPr>
            <a:noAutofit/>
          </a:bodyPr>
          <a:lstStyle/>
          <a:p>
            <a:pPr marL="514350" indent="-514350">
              <a:buFontTx/>
              <a:buChar char="-"/>
            </a:pPr>
            <a:r>
              <a:rPr lang="en-US" sz="2800" dirty="0" err="1" smtClean="0">
                <a:ea typeface="Kozuka Gothic Pro H" pitchFamily="34" charset="-128"/>
              </a:rPr>
              <a:t>Pilih</a:t>
            </a:r>
            <a:r>
              <a:rPr lang="en-US" sz="2800" dirty="0" smtClean="0">
                <a:ea typeface="Kozuka Gothic Pro H" pitchFamily="34" charset="-128"/>
              </a:rPr>
              <a:t> </a:t>
            </a:r>
            <a:r>
              <a:rPr lang="en-US" sz="2800" dirty="0" err="1" smtClean="0">
                <a:ea typeface="Kozuka Gothic Pro H" pitchFamily="34" charset="-128"/>
              </a:rPr>
              <a:t>Ketua</a:t>
            </a:r>
            <a:r>
              <a:rPr lang="en-US" sz="2800" dirty="0" smtClean="0">
                <a:ea typeface="Kozuka Gothic Pro H" pitchFamily="34" charset="-128"/>
              </a:rPr>
              <a:t> </a:t>
            </a:r>
            <a:r>
              <a:rPr lang="en-US" sz="2800" dirty="0" err="1" smtClean="0">
                <a:ea typeface="Kozuka Gothic Pro H" pitchFamily="34" charset="-128"/>
              </a:rPr>
              <a:t>Kelas</a:t>
            </a:r>
            <a:endParaRPr lang="en-US" sz="2800" dirty="0" smtClean="0">
              <a:ea typeface="Kozuka Gothic Pro H" pitchFamily="34" charset="-128"/>
            </a:endParaRPr>
          </a:p>
          <a:p>
            <a:pPr marL="514350" indent="-514350">
              <a:buFontTx/>
              <a:buChar char="-"/>
            </a:pPr>
            <a:r>
              <a:rPr lang="en-US" sz="2800" dirty="0" err="1" smtClean="0">
                <a:ea typeface="Kozuka Gothic Pro H" pitchFamily="34" charset="-128"/>
              </a:rPr>
              <a:t>Bentuk</a:t>
            </a:r>
            <a:r>
              <a:rPr lang="en-US" sz="2800" dirty="0" smtClean="0">
                <a:ea typeface="Kozuka Gothic Pro H" pitchFamily="34" charset="-128"/>
              </a:rPr>
              <a:t> </a:t>
            </a:r>
            <a:r>
              <a:rPr lang="en-US" sz="2800" dirty="0" err="1" smtClean="0">
                <a:ea typeface="Kozuka Gothic Pro H" pitchFamily="34" charset="-128"/>
              </a:rPr>
              <a:t>Kelompok</a:t>
            </a:r>
            <a:r>
              <a:rPr lang="en-US" sz="2800" dirty="0" smtClean="0">
                <a:ea typeface="Kozuka Gothic Pro H" pitchFamily="34" charset="-128"/>
              </a:rPr>
              <a:t> (3 – 5 orang)</a:t>
            </a:r>
            <a:endParaRPr lang="en-US" sz="2800" dirty="0">
              <a:ea typeface="Kozuka Gothic Pro H" pitchFamily="34" charset="-128"/>
              <a:sym typeface="Wingdings" panose="05000000000000000000" pitchFamily="2" charset="2"/>
            </a:endParaRPr>
          </a:p>
          <a:p>
            <a:pPr marL="514350" indent="-514350">
              <a:buFontTx/>
              <a:buChar char="-"/>
            </a:pPr>
            <a:r>
              <a:rPr lang="en-US" sz="2800" dirty="0" err="1" smtClean="0">
                <a:ea typeface="Kozuka Gothic Pro H" pitchFamily="34" charset="-128"/>
                <a:sym typeface="Wingdings" panose="05000000000000000000" pitchFamily="2" charset="2"/>
              </a:rPr>
              <a:t>Pilih</a:t>
            </a:r>
            <a:r>
              <a:rPr lang="en-US" sz="2800" dirty="0" smtClean="0">
                <a:ea typeface="Kozuka Gothic Pro H" pitchFamily="34" charset="-128"/>
                <a:sym typeface="Wingdings" panose="05000000000000000000" pitchFamily="2" charset="2"/>
              </a:rPr>
              <a:t> </a:t>
            </a:r>
            <a:r>
              <a:rPr lang="en-US" sz="2800" dirty="0" err="1" smtClean="0">
                <a:ea typeface="Kozuka Gothic Pro H" pitchFamily="34" charset="-128"/>
                <a:sym typeface="Wingdings" panose="05000000000000000000" pitchFamily="2" charset="2"/>
              </a:rPr>
              <a:t>Ketua</a:t>
            </a:r>
            <a:r>
              <a:rPr lang="en-US" sz="2800" dirty="0" smtClean="0">
                <a:ea typeface="Kozuka Gothic Pro H" pitchFamily="34" charset="-128"/>
                <a:sym typeface="Wingdings" panose="05000000000000000000" pitchFamily="2" charset="2"/>
              </a:rPr>
              <a:t> </a:t>
            </a:r>
            <a:r>
              <a:rPr lang="en-US" sz="2800" dirty="0" err="1" smtClean="0">
                <a:ea typeface="Kozuka Gothic Pro H" pitchFamily="34" charset="-128"/>
                <a:sym typeface="Wingdings" panose="05000000000000000000" pitchFamily="2" charset="2"/>
              </a:rPr>
              <a:t>Kelompok</a:t>
            </a:r>
            <a:endParaRPr lang="en-US" sz="2800" dirty="0">
              <a:ea typeface="Kozuka Gothic Pro H" pitchFamily="34" charset="-128"/>
              <a:sym typeface="Wingdings" panose="05000000000000000000" pitchFamily="2" charset="2"/>
            </a:endParaRPr>
          </a:p>
          <a:p>
            <a:pPr marL="514350" indent="-514350">
              <a:buFontTx/>
              <a:buChar char="-"/>
            </a:pPr>
            <a:r>
              <a:rPr lang="en-US" sz="2800" dirty="0" err="1" smtClean="0">
                <a:ea typeface="Kozuka Gothic Pro H" pitchFamily="34" charset="-128"/>
                <a:sym typeface="Wingdings" panose="05000000000000000000" pitchFamily="2" charset="2"/>
              </a:rPr>
              <a:t>Kumpulkan</a:t>
            </a:r>
            <a:r>
              <a:rPr lang="en-US" sz="2800" dirty="0" smtClean="0">
                <a:ea typeface="Kozuka Gothic Pro H" pitchFamily="34" charset="-128"/>
                <a:sym typeface="Wingdings" panose="05000000000000000000" pitchFamily="2" charset="2"/>
              </a:rPr>
              <a:t> List </a:t>
            </a:r>
            <a:r>
              <a:rPr lang="en-US" sz="2800" dirty="0" err="1" smtClean="0">
                <a:ea typeface="Kozuka Gothic Pro H" pitchFamily="34" charset="-128"/>
                <a:sym typeface="Wingdings" panose="05000000000000000000" pitchFamily="2" charset="2"/>
              </a:rPr>
              <a:t>Anggota</a:t>
            </a:r>
            <a:r>
              <a:rPr lang="en-US" sz="2800" dirty="0" smtClean="0">
                <a:ea typeface="Kozuka Gothic Pro H" pitchFamily="34" charset="-128"/>
                <a:sym typeface="Wingdings" panose="05000000000000000000" pitchFamily="2" charset="2"/>
              </a:rPr>
              <a:t> </a:t>
            </a:r>
            <a:r>
              <a:rPr lang="en-US" sz="2800" dirty="0" err="1" smtClean="0">
                <a:ea typeface="Kozuka Gothic Pro H" pitchFamily="34" charset="-128"/>
                <a:sym typeface="Wingdings" panose="05000000000000000000" pitchFamily="2" charset="2"/>
              </a:rPr>
              <a:t>Kelompok</a:t>
            </a:r>
            <a:r>
              <a:rPr lang="en-US" sz="2800" dirty="0" smtClean="0">
                <a:ea typeface="Kozuka Gothic Pro H" pitchFamily="34" charset="-128"/>
                <a:sym typeface="Wingdings" panose="05000000000000000000" pitchFamily="2" charset="2"/>
              </a:rPr>
              <a:t> via </a:t>
            </a:r>
            <a:r>
              <a:rPr lang="en-US" sz="2800" dirty="0" err="1" smtClean="0">
                <a:ea typeface="Kozuka Gothic Pro H" pitchFamily="34" charset="-128"/>
                <a:sym typeface="Wingdings" panose="05000000000000000000" pitchFamily="2" charset="2"/>
              </a:rPr>
              <a:t>Ketua</a:t>
            </a:r>
            <a:r>
              <a:rPr lang="en-US" sz="2800" dirty="0" smtClean="0">
                <a:ea typeface="Kozuka Gothic Pro H" pitchFamily="34" charset="-128"/>
                <a:sym typeface="Wingdings" panose="05000000000000000000" pitchFamily="2" charset="2"/>
              </a:rPr>
              <a:t> </a:t>
            </a:r>
            <a:r>
              <a:rPr lang="en-US" sz="2800" dirty="0" err="1" smtClean="0">
                <a:ea typeface="Kozuka Gothic Pro H" pitchFamily="34" charset="-128"/>
                <a:sym typeface="Wingdings" panose="05000000000000000000" pitchFamily="2" charset="2"/>
              </a:rPr>
              <a:t>Kelas</a:t>
            </a:r>
            <a:r>
              <a:rPr lang="en-US" sz="2800" dirty="0" smtClean="0">
                <a:ea typeface="Kozuka Gothic Pro H" pitchFamily="34" charset="-128"/>
                <a:sym typeface="Wingdings" panose="05000000000000000000" pitchFamily="2" charset="2"/>
              </a:rPr>
              <a:t> (Format .</a:t>
            </a:r>
            <a:r>
              <a:rPr lang="en-US" sz="2800" dirty="0" err="1" smtClean="0">
                <a:ea typeface="Kozuka Gothic Pro H" pitchFamily="34" charset="-128"/>
                <a:sym typeface="Wingdings" panose="05000000000000000000" pitchFamily="2" charset="2"/>
              </a:rPr>
              <a:t>xls</a:t>
            </a:r>
            <a:r>
              <a:rPr lang="en-US" sz="2800" dirty="0" smtClean="0">
                <a:ea typeface="Kozuka Gothic Pro H" pitchFamily="34" charset="-128"/>
                <a:sym typeface="Wingdings" panose="05000000000000000000" pitchFamily="2" charset="2"/>
              </a:rPr>
              <a:t>)  </a:t>
            </a:r>
            <a:r>
              <a:rPr lang="en-US" sz="2800" dirty="0" err="1" smtClean="0">
                <a:ea typeface="Kozuka Gothic Pro H" pitchFamily="34" charset="-128"/>
                <a:sym typeface="Wingdings" panose="05000000000000000000" pitchFamily="2" charset="2"/>
              </a:rPr>
              <a:t>cek</a:t>
            </a:r>
            <a:r>
              <a:rPr lang="en-US" sz="2800" dirty="0" smtClean="0">
                <a:ea typeface="Kozuka Gothic Pro H" pitchFamily="34" charset="-128"/>
                <a:sym typeface="Wingdings" panose="05000000000000000000" pitchFamily="2" charset="2"/>
              </a:rPr>
              <a:t> </a:t>
            </a:r>
            <a:r>
              <a:rPr lang="en-US" sz="2800" dirty="0" err="1" smtClean="0">
                <a:ea typeface="Kozuka Gothic Pro H" pitchFamily="34" charset="-128"/>
                <a:sym typeface="Wingdings" panose="05000000000000000000" pitchFamily="2" charset="2"/>
              </a:rPr>
              <a:t>kuliah</a:t>
            </a:r>
            <a:r>
              <a:rPr lang="en-US" sz="2800" dirty="0" smtClean="0">
                <a:ea typeface="Kozuka Gothic Pro H" pitchFamily="34" charset="-128"/>
                <a:sym typeface="Wingdings" panose="05000000000000000000" pitchFamily="2" charset="2"/>
              </a:rPr>
              <a:t> online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1826</TotalTime>
  <Words>273</Words>
  <Application>Microsoft Office PowerPoint</Application>
  <PresentationFormat>On-screen Show (4:3)</PresentationFormat>
  <Paragraphs>93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6" baseType="lpstr">
      <vt:lpstr>Adobe Fangsong Std R</vt:lpstr>
      <vt:lpstr>Arabic Typesetting</vt:lpstr>
      <vt:lpstr>Arial</vt:lpstr>
      <vt:lpstr>Calibri</vt:lpstr>
      <vt:lpstr>Cambria Math</vt:lpstr>
      <vt:lpstr>Kozuka Gothic Pro H</vt:lpstr>
      <vt:lpstr>Segoe Print</vt:lpstr>
      <vt:lpstr>Segoe Script</vt:lpstr>
      <vt:lpstr>Symbol</vt:lpstr>
      <vt:lpstr>Times New Roman</vt:lpstr>
      <vt:lpstr>Wingdings</vt:lpstr>
      <vt:lpstr>Office Theme</vt:lpstr>
      <vt:lpstr>MATERI PERKULIAHAN KECERDASAN BUATAN</vt:lpstr>
      <vt:lpstr>Dosen</vt:lpstr>
      <vt:lpstr>Kuliah Online</vt:lpstr>
      <vt:lpstr>Beban Kuliah</vt:lpstr>
      <vt:lpstr>Silabus</vt:lpstr>
      <vt:lpstr>Silabus</vt:lpstr>
      <vt:lpstr>Referensi</vt:lpstr>
      <vt:lpstr>Penilaian</vt:lpstr>
      <vt:lpstr>UTS &amp; UAS</vt:lpstr>
      <vt:lpstr>Metode Perkuliahan</vt:lpstr>
      <vt:lpstr>Aturan Perkuliahan</vt:lpstr>
      <vt:lpstr>Aturan Perkuliahan</vt:lpstr>
      <vt:lpstr>PowerPoint Presentation</vt:lpstr>
      <vt:lpstr>AKTIFITAS AWAL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Pemrograman Berorientasi Objek &lt;PBO&gt;</dc:title>
  <dc:creator>Ken</dc:creator>
  <cp:lastModifiedBy>Microsoft account</cp:lastModifiedBy>
  <cp:revision>200</cp:revision>
  <dcterms:created xsi:type="dcterms:W3CDTF">2012-02-22T14:18:32Z</dcterms:created>
  <dcterms:modified xsi:type="dcterms:W3CDTF">2017-09-12T05:51:22Z</dcterms:modified>
</cp:coreProperties>
</file>