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88" r:id="rId2"/>
    <p:sldId id="275" r:id="rId3"/>
    <p:sldId id="305" r:id="rId4"/>
    <p:sldId id="304" r:id="rId5"/>
    <p:sldId id="289" r:id="rId6"/>
    <p:sldId id="301" r:id="rId7"/>
    <p:sldId id="314" r:id="rId8"/>
    <p:sldId id="320" r:id="rId9"/>
    <p:sldId id="313" r:id="rId10"/>
    <p:sldId id="294" r:id="rId11"/>
    <p:sldId id="318" r:id="rId12"/>
    <p:sldId id="290" r:id="rId13"/>
    <p:sldId id="332" r:id="rId14"/>
    <p:sldId id="300" r:id="rId15"/>
    <p:sldId id="315" r:id="rId16"/>
    <p:sldId id="316" r:id="rId17"/>
    <p:sldId id="321" r:id="rId18"/>
    <p:sldId id="322" r:id="rId19"/>
    <p:sldId id="291" r:id="rId20"/>
    <p:sldId id="323" r:id="rId21"/>
    <p:sldId id="325" r:id="rId22"/>
    <p:sldId id="326" r:id="rId23"/>
    <p:sldId id="327" r:id="rId24"/>
    <p:sldId id="292" r:id="rId25"/>
    <p:sldId id="306" r:id="rId26"/>
    <p:sldId id="330" r:id="rId27"/>
    <p:sldId id="328" r:id="rId28"/>
    <p:sldId id="307" r:id="rId29"/>
    <p:sldId id="308" r:id="rId30"/>
    <p:sldId id="309" r:id="rId31"/>
    <p:sldId id="310" r:id="rId32"/>
    <p:sldId id="311" r:id="rId33"/>
    <p:sldId id="329" r:id="rId34"/>
    <p:sldId id="271" r:id="rId35"/>
    <p:sldId id="286" r:id="rId36"/>
    <p:sldId id="333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EB4C-2375-408B-B431-73A8E3C912EC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E876F-4345-4EF1-8165-736D3F3290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3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39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91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11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04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32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0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8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33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33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13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22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6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02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86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69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0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68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40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68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96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73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17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39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842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12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81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377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002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287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597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090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491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00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36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6372FB-D447-44EA-99A0-E8489824EB9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7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0B23-A085-4CE6-9AD9-2B63A9CABB7F}" type="datetimeFigureOut">
              <a:rPr lang="en-US" smtClean="0"/>
              <a:pPr/>
              <a:t>10/9/2017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2DED9-A946-4F41-B045-713A7209B5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620000" cy="1524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MATERI PERKULIAHAN</a:t>
            </a:r>
            <a:br>
              <a:rPr lang="en-US" sz="1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</a:br>
            <a:r>
              <a:rPr lang="en-US" sz="28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KECERDASAN BUATAN</a:t>
            </a:r>
            <a:endParaRPr lang="en-US" sz="28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943600"/>
            <a:ext cx="4572000" cy="53340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Ken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Kinanti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 </a:t>
            </a:r>
            <a:r>
              <a:rPr lang="en-US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Cambria Math" pitchFamily="18" charset="0"/>
              </a:rPr>
              <a:t>Purnamasari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Segoe Print" panose="02000600000000000000" pitchFamily="2" charset="0"/>
              <a:ea typeface="Cambria Math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66800" y="2858869"/>
            <a:ext cx="701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38600" y="3849469"/>
            <a:ext cx="1219200" cy="6463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2</a:t>
            </a:r>
            <a:endParaRPr lang="en-US" sz="3600" b="1" dirty="0"/>
          </a:p>
        </p:txBody>
      </p:sp>
      <p:pic>
        <p:nvPicPr>
          <p:cNvPr id="3074" name="Picture 2" descr="E:\Pictures\logo_unikom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5022" y="304800"/>
            <a:ext cx="984178" cy="997301"/>
          </a:xfrm>
          <a:prstGeom prst="rect">
            <a:avLst/>
          </a:prstGeom>
          <a:noFill/>
        </p:spPr>
      </p:pic>
      <p:cxnSp>
        <p:nvCxnSpPr>
          <p:cNvPr id="7" name="Straight Connector 6"/>
          <p:cNvCxnSpPr/>
          <p:nvPr/>
        </p:nvCxnSpPr>
        <p:spPr>
          <a:xfrm>
            <a:off x="1066800" y="3544669"/>
            <a:ext cx="701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66800" y="3011269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Segoe Print" pitchFamily="2" charset="0"/>
                <a:ea typeface="Cambria Math" pitchFamily="18" charset="0"/>
              </a:rPr>
              <a:t>INTELLIGENT AGENT</a:t>
            </a:r>
            <a:endParaRPr lang="en-US" sz="2000" b="1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8675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4733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ectangle 17"/>
          <p:cNvSpPr/>
          <p:nvPr/>
        </p:nvSpPr>
        <p:spPr>
          <a:xfrm>
            <a:off x="1066800" y="304800"/>
            <a:ext cx="7797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b="1" dirty="0" smtClean="0">
              <a:latin typeface="Segoe Print" pitchFamily="2" charset="0"/>
              <a:ea typeface="Cambria Math" pitchFamily="18" charset="0"/>
            </a:endParaRPr>
          </a:p>
          <a:p>
            <a:r>
              <a:rPr lang="en-US" sz="3600" b="1" dirty="0" err="1" smtClean="0">
                <a:latin typeface="Segoe Print" pitchFamily="2" charset="0"/>
                <a:ea typeface="Cambria Math" pitchFamily="18" charset="0"/>
              </a:rPr>
              <a:t>Tujuan</a:t>
            </a:r>
            <a:endParaRPr lang="en-US" sz="3200" b="1" dirty="0">
              <a:latin typeface="Segoe Print" pitchFamily="2" charset="0"/>
              <a:ea typeface="Cambria Math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1143000" y="1524000"/>
            <a:ext cx="74676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90600" y="2057400"/>
            <a:ext cx="7620000" cy="739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3200" dirty="0" err="1" smtClean="0">
                <a:latin typeface="Cambria Math" pitchFamily="18" charset="0"/>
                <a:ea typeface="Cambria Math" pitchFamily="18" charset="0"/>
              </a:rPr>
              <a:t>Memahami</a:t>
            </a: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3200" dirty="0" err="1" smtClean="0">
                <a:latin typeface="Cambria Math" pitchFamily="18" charset="0"/>
                <a:ea typeface="Cambria Math" pitchFamily="18" charset="0"/>
              </a:rPr>
              <a:t>konsep</a:t>
            </a:r>
            <a:r>
              <a:rPr lang="en-US" sz="32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3200" b="1" i="1" dirty="0" smtClean="0">
                <a:latin typeface="Cambria Math" pitchFamily="18" charset="0"/>
                <a:ea typeface="Cambria Math" pitchFamily="18" charset="0"/>
              </a:rPr>
              <a:t>Intelligent Agent</a:t>
            </a:r>
            <a:endParaRPr lang="en-US" sz="3200" i="1" dirty="0" smtClean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Contoh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Agent (1. FBI)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7250" y="4734462"/>
            <a:ext cx="29718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 smtClean="0"/>
              <a:t>“The Mentalist” movie</a:t>
            </a:r>
          </a:p>
          <a:p>
            <a:pPr algn="r"/>
            <a:r>
              <a:rPr lang="en-US" dirty="0"/>
              <a:t>(http://www.ibtimes.co.uk</a:t>
            </a:r>
            <a:r>
              <a:rPr lang="en-US" dirty="0" smtClean="0"/>
              <a:t>/)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1380292"/>
            <a:ext cx="368310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Daniel Radcliffe – </a:t>
            </a:r>
          </a:p>
          <a:p>
            <a:r>
              <a:rPr lang="en-US" sz="2000" i="1" dirty="0" smtClean="0"/>
              <a:t>“Imperium” movie</a:t>
            </a:r>
          </a:p>
          <a:p>
            <a:r>
              <a:rPr lang="en-US" dirty="0" smtClean="0"/>
              <a:t>(https</a:t>
            </a:r>
            <a:r>
              <a:rPr lang="en-US" dirty="0"/>
              <a:t>://teaser-trailer.com/movie/imperium</a:t>
            </a:r>
            <a:r>
              <a:rPr lang="en-US" dirty="0" smtClean="0"/>
              <a:t>/)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644" y="1207707"/>
            <a:ext cx="3420009" cy="20688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5" t="2339" r="9065" b="34502"/>
          <a:stretch/>
        </p:blipFill>
        <p:spPr>
          <a:xfrm>
            <a:off x="3886200" y="3705762"/>
            <a:ext cx="4724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Rectangle 31"/>
          <p:cNvSpPr/>
          <p:nvPr/>
        </p:nvSpPr>
        <p:spPr>
          <a:xfrm>
            <a:off x="1268322" y="3810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Contoh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Agent (2. </a:t>
            </a:r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Penyalur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)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00" y="5318151"/>
            <a:ext cx="3048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err="1" smtClean="0"/>
              <a:t>Agen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Pulsa</a:t>
            </a:r>
            <a:endParaRPr lang="en-US" sz="2000" dirty="0" smtClean="0"/>
          </a:p>
          <a:p>
            <a:pPr algn="r"/>
            <a:r>
              <a:rPr lang="en-US" dirty="0"/>
              <a:t>(http://pulsaelektrik.co.id/)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4466" y="1637231"/>
            <a:ext cx="33147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Agen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Beras</a:t>
            </a:r>
            <a:endParaRPr lang="en-US" sz="2000" b="1" dirty="0" smtClean="0"/>
          </a:p>
          <a:p>
            <a:r>
              <a:rPr lang="en-US" dirty="0"/>
              <a:t>(http://www.republika.co.id/berita/ekonomi/makro/15/02/22/nk6fuo-kartel-harga-beras-diduga-libatkan-pedagang-besar)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359824"/>
            <a:ext cx="4599078" cy="30808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50" y="4019131"/>
            <a:ext cx="4271962" cy="21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7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P E N G E R T I A N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80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27432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agent is anything that can be viewed as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perceiving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its environment through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acting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upon that environment through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actuators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3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19200"/>
            <a:ext cx="934915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1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472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PERCEPT SEQUENCE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53" y="2331104"/>
            <a:ext cx="8610600" cy="45268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10415"/>
            <a:ext cx="3895725" cy="203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6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1308234"/>
            <a:ext cx="6934200" cy="1600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i="1" dirty="0" smtClean="0"/>
              <a:t>“ PELAKU “</a:t>
            </a:r>
          </a:p>
          <a:p>
            <a:pPr marL="0" indent="0" algn="ctr">
              <a:buNone/>
            </a:pPr>
            <a:r>
              <a:rPr lang="en-US" b="1" dirty="0" err="1" smtClean="0"/>
              <a:t>dipengaruhi</a:t>
            </a:r>
            <a:r>
              <a:rPr lang="en-US" dirty="0" smtClean="0"/>
              <a:t> &amp; </a:t>
            </a:r>
            <a:r>
              <a:rPr lang="en-US" b="1" dirty="0" err="1" smtClean="0"/>
              <a:t>mempengaruhi</a:t>
            </a:r>
            <a:r>
              <a:rPr lang="en-US" dirty="0" smtClean="0"/>
              <a:t>.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685800" y="903088"/>
            <a:ext cx="8229600" cy="2074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dirty="0" smtClean="0"/>
          </a:p>
          <a:p>
            <a:pPr marL="0" indent="0" algn="ctr">
              <a:buFont typeface="Arial" pitchFamily="34" charset="0"/>
              <a:buNone/>
            </a:pPr>
            <a:r>
              <a:rPr lang="en-US" b="1" i="1" dirty="0" err="1" smtClean="0">
                <a:latin typeface="Arabic Typesetting"/>
              </a:rPr>
              <a:t>Agere</a:t>
            </a:r>
            <a:r>
              <a:rPr lang="en-US" dirty="0" smtClean="0"/>
              <a:t> </a:t>
            </a: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en-US" sz="28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latin</a:t>
            </a: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</a:t>
            </a: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doing (</a:t>
            </a:r>
            <a:r>
              <a:rPr lang="en-US" sz="24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melakukan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)</a:t>
            </a:r>
            <a:r>
              <a:rPr lang="en-US" sz="28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b="1" i="1" dirty="0" smtClean="0">
                <a:latin typeface="Arabic Typesetting"/>
                <a:sym typeface="Wingdings" panose="05000000000000000000" pitchFamily="2" charset="2"/>
              </a:rPr>
              <a:t>Agent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 </a:t>
            </a:r>
            <a:r>
              <a:rPr lang="en-US" sz="24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sesuatu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yang </a:t>
            </a:r>
            <a:r>
              <a:rPr lang="en-US" sz="24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memberi</a:t>
            </a:r>
            <a:r>
              <a:rPr lang="en-US" sz="24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 </a:t>
            </a:r>
            <a:r>
              <a:rPr lang="en-US" sz="24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Wingdings" panose="05000000000000000000" pitchFamily="2" charset="2"/>
              </a:rPr>
              <a:t>pengaruh</a:t>
            </a:r>
            <a:endParaRPr lang="en-US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20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05200" y="1859339"/>
            <a:ext cx="2057400" cy="13716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AGENT</a:t>
            </a:r>
            <a:endParaRPr lang="en-US" sz="3200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790700" y="2545139"/>
            <a:ext cx="15240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777764" y="2545139"/>
            <a:ext cx="15240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55444" y="208793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9300" y="208793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43175" y="2685871"/>
            <a:ext cx="1295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suara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sentuhan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4700" y="1859339"/>
            <a:ext cx="1905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87264" y="1859339"/>
            <a:ext cx="1905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409950" y="3230939"/>
            <a:ext cx="0" cy="1066800"/>
          </a:xfrm>
          <a:prstGeom prst="straightConnector1">
            <a:avLst/>
          </a:prstGeom>
          <a:ln w="57150">
            <a:prstDash val="sysDot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682514" y="3230939"/>
            <a:ext cx="0" cy="1066800"/>
          </a:xfrm>
          <a:prstGeom prst="straightConnector1">
            <a:avLst/>
          </a:prstGeom>
          <a:ln w="57150">
            <a:prstDash val="sysDot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81300" y="4297739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enerima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(sensor)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7675" y="4279373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perespon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(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aktuator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6364" y="2685871"/>
            <a:ext cx="129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suara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sentuhan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gerakan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r"/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r"/>
            <a:r>
              <a:rPr lang="en-US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17656" y="4944070"/>
            <a:ext cx="9643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telinga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kulit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hidung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mulut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00348" y="4925704"/>
            <a:ext cx="964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tangan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kaki</a:t>
            </a:r>
          </a:p>
          <a:p>
            <a:pPr algn="ctr"/>
            <a:r>
              <a:rPr lang="en-US" i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i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ulut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en-US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i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81988" y="1348465"/>
            <a:ext cx="1282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MANUSIA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6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7800" y="2590800"/>
            <a:ext cx="2819400" cy="10668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Agent Program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990600" y="2590800"/>
            <a:ext cx="2819400" cy="10668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Agent Function</a:t>
            </a:r>
            <a:endParaRPr lang="en-US" sz="2800" b="1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14800" y="3124200"/>
            <a:ext cx="774752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05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R A S I O N A L I T A 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RATIONAL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10668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Agent yang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bertindak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BENAR.</a:t>
            </a:r>
          </a:p>
        </p:txBody>
      </p:sp>
    </p:spTree>
    <p:extLst>
      <p:ext uri="{BB962C8B-B14F-4D97-AF65-F5344CB8AC3E}">
        <p14:creationId xmlns:p14="http://schemas.microsoft.com/office/powerpoint/2010/main" val="313512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RATIONAL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 txBox="1">
            <a:spLocks/>
          </p:cNvSpPr>
          <p:nvPr/>
        </p:nvSpPr>
        <p:spPr>
          <a:xfrm>
            <a:off x="463116" y="1600200"/>
            <a:ext cx="8258175" cy="19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60000"/>
              </a:lnSpc>
              <a:buFont typeface="Arial" pitchFamily="34" charset="0"/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RATIONAL    ≠    OMNISCIENCE</a:t>
            </a:r>
          </a:p>
          <a:p>
            <a:pPr marL="0" indent="0" algn="ctr">
              <a:lnSpc>
                <a:spcPct val="160000"/>
              </a:lnSpc>
              <a:buFont typeface="Arial" pitchFamily="34" charset="0"/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RATIONAL    ≠    PERFECT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3992940"/>
            <a:ext cx="22555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err="1" smtClean="0">
                <a:solidFill>
                  <a:schemeClr val="accent1"/>
                </a:solidFill>
              </a:rPr>
              <a:t>Maksimum</a:t>
            </a:r>
            <a:r>
              <a:rPr lang="en-US" sz="2400" b="1" i="1" dirty="0" smtClean="0">
                <a:solidFill>
                  <a:schemeClr val="accent1"/>
                </a:solidFill>
              </a:rPr>
              <a:t> </a:t>
            </a:r>
            <a:r>
              <a:rPr lang="en-US" sz="2400" b="1" i="1" dirty="0" err="1" smtClean="0">
                <a:solidFill>
                  <a:schemeClr val="accent1"/>
                </a:solidFill>
              </a:rPr>
              <a:t>Harapan</a:t>
            </a:r>
            <a:endParaRPr lang="en-US" sz="2400" b="1" i="1" dirty="0" smtClean="0">
              <a:solidFill>
                <a:schemeClr val="accent1"/>
              </a:solidFill>
            </a:endParaRPr>
          </a:p>
          <a:p>
            <a:pPr algn="ctr"/>
            <a:r>
              <a:rPr lang="en-US" sz="2400" i="1" dirty="0" smtClean="0">
                <a:solidFill>
                  <a:srgbClr val="FF0000"/>
                </a:solidFill>
              </a:rPr>
              <a:t>(expected performance)</a:t>
            </a:r>
            <a:endParaRPr lang="en-US" sz="24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3992940"/>
            <a:ext cx="281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 err="1" smtClean="0">
                <a:solidFill>
                  <a:schemeClr val="accent1"/>
                </a:solidFill>
              </a:rPr>
              <a:t>Maksimum</a:t>
            </a:r>
            <a:r>
              <a:rPr lang="en-US" sz="2400" b="1" i="1" dirty="0" smtClean="0">
                <a:solidFill>
                  <a:schemeClr val="accent1"/>
                </a:solidFill>
              </a:rPr>
              <a:t> </a:t>
            </a:r>
            <a:r>
              <a:rPr lang="en-US" sz="2400" b="1" i="1" dirty="0" err="1" smtClean="0">
                <a:solidFill>
                  <a:schemeClr val="accent1"/>
                </a:solidFill>
              </a:rPr>
              <a:t>Kenyataan</a:t>
            </a:r>
            <a:endParaRPr lang="en-US" sz="2400" b="1" i="1" dirty="0" smtClean="0">
              <a:solidFill>
                <a:schemeClr val="accent1"/>
              </a:solidFill>
            </a:endParaRPr>
          </a:p>
          <a:p>
            <a:pPr algn="ctr"/>
            <a:r>
              <a:rPr lang="en-US" sz="2400" i="1" dirty="0" smtClean="0">
                <a:solidFill>
                  <a:srgbClr val="FF0000"/>
                </a:solidFill>
              </a:rPr>
              <a:t>(actual</a:t>
            </a:r>
          </a:p>
          <a:p>
            <a:pPr algn="ctr"/>
            <a:r>
              <a:rPr lang="en-US" sz="2400" i="1" dirty="0" smtClean="0">
                <a:solidFill>
                  <a:srgbClr val="FF0000"/>
                </a:solidFill>
              </a:rPr>
              <a:t>performance)</a:t>
            </a:r>
            <a:endParaRPr lang="en-US" sz="2400" i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75960" y="3344834"/>
            <a:ext cx="0" cy="48769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134100" y="3344833"/>
            <a:ext cx="0" cy="48769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41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PERFORMANCE MEASURE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10668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Ukuran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benar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an”.</a:t>
            </a:r>
          </a:p>
        </p:txBody>
      </p:sp>
    </p:spTree>
    <p:extLst>
      <p:ext uri="{BB962C8B-B14F-4D97-AF65-F5344CB8AC3E}">
        <p14:creationId xmlns:p14="http://schemas.microsoft.com/office/powerpoint/2010/main" val="410623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INFORMATION GATHERING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428625" y="1219200"/>
            <a:ext cx="8229600" cy="5257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Proses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mengumpulkan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memaksimalkan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performa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292" y="2514600"/>
            <a:ext cx="6858000" cy="37739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9749" y="6336268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http://blog.authenticjourneys.info/2015/06/how-to-cross-street-in-usa.html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LEARNING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1676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Belajar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pengetahuan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sebelumnya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pengalaman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2489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AUTONOMY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990600" y="1371600"/>
            <a:ext cx="7797904" cy="33528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Kemampuan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Agent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bergerak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independen</a:t>
            </a:r>
            <a:r>
              <a:rPr lang="en-US" sz="28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pengetahuan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diberikan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148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L I N G K U N G A N</a:t>
            </a:r>
            <a:b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</a:br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(environment)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53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TASK ENVIRONMENT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3581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erformance</a:t>
            </a:r>
          </a:p>
          <a:p>
            <a:pPr marL="0" indent="0" algn="ctr">
              <a:buNone/>
            </a:pP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nvironment</a:t>
            </a:r>
          </a:p>
          <a:p>
            <a:pPr marL="0" indent="0" algn="ctr">
              <a:buNone/>
            </a:pP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ctuators</a:t>
            </a:r>
          </a:p>
          <a:p>
            <a:pPr marL="0" indent="0" algn="ctr">
              <a:buNone/>
            </a:pP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ensors</a:t>
            </a:r>
          </a:p>
        </p:txBody>
      </p:sp>
    </p:spTree>
    <p:extLst>
      <p:ext uri="{BB962C8B-B14F-4D97-AF65-F5344CB8AC3E}">
        <p14:creationId xmlns:p14="http://schemas.microsoft.com/office/powerpoint/2010/main" val="110118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Contoh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PEAS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39326"/>
              </p:ext>
            </p:extLst>
          </p:nvPr>
        </p:nvGraphicFramePr>
        <p:xfrm>
          <a:off x="609600" y="1371600"/>
          <a:ext cx="8077200" cy="426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905"/>
                <a:gridCol w="1485695"/>
                <a:gridCol w="1600202"/>
                <a:gridCol w="1524000"/>
                <a:gridCol w="1295398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NO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TIPE AGEN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P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UKURAN PERFORMA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E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LINGKUNGAN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A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AKTUATOR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SENSOR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Supir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Taksi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Aman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Cepat</a:t>
                      </a:r>
                      <a:r>
                        <a:rPr lang="en-US" dirty="0" smtClean="0"/>
                        <a:t>, Legal, </a:t>
                      </a:r>
                      <a:r>
                        <a:rPr lang="en-US" dirty="0" err="1" smtClean="0"/>
                        <a:t>Nyaman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Laba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Jalan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Kendaraan</a:t>
                      </a:r>
                      <a:r>
                        <a:rPr lang="en-US" baseline="0" dirty="0" smtClean="0"/>
                        <a:t> Lain, </a:t>
                      </a:r>
                      <a:r>
                        <a:rPr lang="en-US" baseline="0" dirty="0" err="1" smtClean="0"/>
                        <a:t>Pejalan</a:t>
                      </a:r>
                      <a:r>
                        <a:rPr lang="en-US" baseline="0" dirty="0" smtClean="0"/>
                        <a:t> Kaki, </a:t>
                      </a:r>
                      <a:r>
                        <a:rPr lang="en-US" baseline="0" dirty="0" err="1" smtClean="0"/>
                        <a:t>Penumpang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Setir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Klakson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Kamera</a:t>
                      </a:r>
                      <a:r>
                        <a:rPr lang="en-US" dirty="0" smtClean="0"/>
                        <a:t>, Speedometer, GPS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Sistem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Diagnosa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Penyakit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Pasien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sehat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biaya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murah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Pasien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Rumah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Sakit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Pegawai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Rumah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Sakit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Pertanyaan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Hasil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Diagnosa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Rujukan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Daftar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Perawatan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Form</a:t>
                      </a:r>
                      <a:r>
                        <a:rPr lang="en-US" baseline="0" dirty="0" smtClean="0"/>
                        <a:t> input </a:t>
                      </a:r>
                      <a:r>
                        <a:rPr lang="en-US" baseline="0" dirty="0" err="1" smtClean="0"/>
                        <a:t>gejala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jawaban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pasien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23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Kategori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9530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Fully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Partial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Observable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Multi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Agent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Deterministic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Stochastic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Episodic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Discrete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Continous</a:t>
            </a:r>
            <a:endParaRPr lang="en-US" sz="24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Known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 algn="ctr">
              <a:lnSpc>
                <a:spcPct val="160000"/>
              </a:lnSpc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18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err="1" smtClean="0">
                <a:latin typeface="Segoe Print" pitchFamily="2" charset="0"/>
                <a:ea typeface="Cambria Math" pitchFamily="18" charset="0"/>
              </a:rPr>
              <a:t>Kategori</a:t>
            </a:r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 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59" y="1140877"/>
            <a:ext cx="8763141" cy="43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7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S T R U K T U R </a:t>
            </a:r>
            <a:b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</a:br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A G E N 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99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STRUKTUR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5413" y="1600200"/>
            <a:ext cx="8229600" cy="3581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i="1" dirty="0" smtClean="0"/>
              <a:t>Agent = </a:t>
            </a:r>
            <a:r>
              <a:rPr lang="en-US" sz="3600" b="1" i="1" dirty="0" err="1" smtClean="0"/>
              <a:t>Arsitektur</a:t>
            </a:r>
            <a:r>
              <a:rPr lang="en-US" sz="3600" b="1" i="1" dirty="0" smtClean="0"/>
              <a:t> + Program</a:t>
            </a:r>
          </a:p>
          <a:p>
            <a:pPr marL="0" indent="0" algn="ctr">
              <a:buNone/>
            </a:pPr>
            <a:endParaRPr lang="en-US" sz="3600" b="1" i="1" dirty="0"/>
          </a:p>
          <a:p>
            <a:pPr marL="0" indent="0" algn="ctr">
              <a:buNone/>
            </a:pPr>
            <a:r>
              <a:rPr lang="en-US" sz="2400" i="1" dirty="0" smtClean="0"/>
              <a:t>*</a:t>
            </a:r>
            <a:r>
              <a:rPr lang="en-US" sz="2400" i="1" dirty="0" err="1" smtClean="0"/>
              <a:t>Arsitektur</a:t>
            </a:r>
            <a:r>
              <a:rPr lang="en-US" sz="2400" i="1" dirty="0" smtClean="0"/>
              <a:t> = </a:t>
            </a:r>
            <a:r>
              <a:rPr lang="en-US" sz="2400" i="1" dirty="0" err="1" smtClean="0"/>
              <a:t>Alat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Komputasi</a:t>
            </a:r>
            <a:r>
              <a:rPr lang="en-US" sz="2400" i="1" dirty="0" smtClean="0"/>
              <a:t> yang </a:t>
            </a:r>
            <a:r>
              <a:rPr lang="en-US" sz="2400" i="1" dirty="0" err="1" smtClean="0"/>
              <a:t>memiliki</a:t>
            </a:r>
            <a:r>
              <a:rPr lang="en-US" sz="2400" i="1" dirty="0" smtClean="0"/>
              <a:t> sensor </a:t>
            </a:r>
            <a:r>
              <a:rPr lang="en-US" sz="2400" i="1" dirty="0" err="1" smtClean="0"/>
              <a:t>dan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aktuator</a:t>
            </a:r>
            <a:endParaRPr lang="en-US" sz="2400" i="1" dirty="0" smtClean="0"/>
          </a:p>
          <a:p>
            <a:pPr marL="0" indent="0" algn="ctr">
              <a:buNone/>
            </a:pPr>
            <a:r>
              <a:rPr lang="en-US" sz="2400" i="1" dirty="0" smtClean="0"/>
              <a:t>*Program = </a:t>
            </a:r>
            <a:r>
              <a:rPr lang="en-US" sz="2400" i="1" dirty="0" err="1" smtClean="0"/>
              <a:t>implementasi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dari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fungsi</a:t>
            </a:r>
            <a:r>
              <a:rPr lang="en-US" sz="2400" i="1" dirty="0" smtClean="0"/>
              <a:t> agent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03783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7000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T I P E  </a:t>
            </a:r>
            <a:b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</a:br>
            <a:r>
              <a:rPr lang="en-US" dirty="0" smtClean="0">
                <a:latin typeface="Arial Rounded MT Bold" panose="020F0704030504030204" pitchFamily="34" charset="0"/>
                <a:cs typeface="Arabic Typesetting" pitchFamily="66" charset="-78"/>
              </a:rPr>
              <a:t>A G E N 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524000" y="4037012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2438400"/>
            <a:ext cx="6248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60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TIPE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5413" y="1600200"/>
            <a:ext cx="8229600" cy="358140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i="1" dirty="0" smtClean="0"/>
              <a:t>Simple Reflex Agent</a:t>
            </a:r>
          </a:p>
          <a:p>
            <a:pPr>
              <a:buFontTx/>
              <a:buChar char="-"/>
            </a:pPr>
            <a:r>
              <a:rPr lang="en-US" i="1" dirty="0" smtClean="0"/>
              <a:t>Model-based Reflex Agent</a:t>
            </a:r>
          </a:p>
          <a:p>
            <a:pPr>
              <a:buFontTx/>
              <a:buChar char="-"/>
            </a:pPr>
            <a:r>
              <a:rPr lang="en-US" i="1" dirty="0" smtClean="0"/>
              <a:t>Goal-based Agent</a:t>
            </a:r>
          </a:p>
          <a:p>
            <a:pPr>
              <a:buFontTx/>
              <a:buChar char="-"/>
            </a:pPr>
            <a:r>
              <a:rPr lang="en-US" i="1" dirty="0" smtClean="0"/>
              <a:t>Utility-based Agent</a:t>
            </a:r>
          </a:p>
          <a:p>
            <a:pPr>
              <a:buFontTx/>
              <a:buChar char="-"/>
            </a:pPr>
            <a:r>
              <a:rPr lang="en-US" i="1" dirty="0" smtClean="0"/>
              <a:t>Learning Agent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1002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Simple Reflex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simple-reflex-agent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7451" y="1524000"/>
            <a:ext cx="5351549" cy="3278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366906" y="5144615"/>
            <a:ext cx="5045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Aksi</a:t>
            </a:r>
            <a:r>
              <a:rPr lang="en-US" sz="2400" dirty="0" smtClean="0"/>
              <a:t> </a:t>
            </a:r>
            <a:r>
              <a:rPr lang="en-US" sz="2400" dirty="0" err="1" smtClean="0"/>
              <a:t>dipengaruhi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keadaan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saat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ini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74386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Model-based Reflex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reflex+state-agent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1749136"/>
            <a:ext cx="5433332" cy="3359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09800" y="5334000"/>
            <a:ext cx="5183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Aksi</a:t>
            </a:r>
            <a:r>
              <a:rPr lang="en-US" sz="2400" dirty="0" smtClean="0"/>
              <a:t> </a:t>
            </a:r>
            <a:r>
              <a:rPr lang="en-US" sz="2400" dirty="0" err="1" smtClean="0"/>
              <a:t>dipengaruhi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aturan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tertentu</a:t>
            </a:r>
            <a:r>
              <a:rPr lang="en-US" sz="2400" dirty="0" smtClean="0"/>
              <a:t> + </a:t>
            </a:r>
          </a:p>
          <a:p>
            <a:r>
              <a:rPr lang="en-US" sz="2400" i="1" dirty="0" err="1" smtClean="0"/>
              <a:t>keadaan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saat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ini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dan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sebelumnya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92627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Goal-based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goal-based-agent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1524000"/>
            <a:ext cx="5410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362200" y="5334000"/>
            <a:ext cx="4643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Aksi</a:t>
            </a:r>
            <a:r>
              <a:rPr lang="en-US" sz="2400" dirty="0" smtClean="0"/>
              <a:t> </a:t>
            </a:r>
            <a:r>
              <a:rPr lang="en-US" sz="2400" dirty="0" err="1" smtClean="0"/>
              <a:t>dipengaruhi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tujuan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sistem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12644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Utility-based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utility-based-agent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1371600"/>
            <a:ext cx="5504584" cy="364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110429" y="5334000"/>
            <a:ext cx="507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Aksi</a:t>
            </a:r>
            <a:r>
              <a:rPr lang="en-US" sz="2400" dirty="0" smtClean="0"/>
              <a:t> </a:t>
            </a:r>
            <a:r>
              <a:rPr lang="en-US" sz="2400" dirty="0" err="1" smtClean="0"/>
              <a:t>dipengaruhi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kegunaan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sistem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20876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990600" y="3048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 smtClean="0">
                <a:latin typeface="Segoe Print" pitchFamily="2" charset="0"/>
                <a:ea typeface="Cambria Math" pitchFamily="18" charset="0"/>
              </a:rPr>
              <a:t>Learning Agent</a:t>
            </a:r>
            <a:endParaRPr lang="en-US" sz="3200" b="1" u="sng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295400"/>
            <a:ext cx="5780956" cy="38401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5737" y="5410200"/>
            <a:ext cx="6257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Aksi</a:t>
            </a:r>
            <a:r>
              <a:rPr lang="en-US" sz="2400" dirty="0" smtClean="0"/>
              <a:t> </a:t>
            </a:r>
            <a:r>
              <a:rPr lang="en-US" sz="2400" dirty="0" err="1" smtClean="0"/>
              <a:t>dipengaruhi</a:t>
            </a:r>
            <a:r>
              <a:rPr lang="en-US" sz="2400" dirty="0" smtClean="0"/>
              <a:t> </a:t>
            </a:r>
            <a:r>
              <a:rPr lang="en-US" sz="2400" dirty="0" err="1" smtClean="0"/>
              <a:t>oleh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hasil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pembelajaran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sistem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63916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28800"/>
            <a:ext cx="5181600" cy="16764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sz="36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Ada </a:t>
            </a:r>
            <a:r>
              <a:rPr lang="en-US" sz="3600" b="1" dirty="0" err="1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Pertanyaan</a:t>
            </a:r>
            <a:r>
              <a:rPr lang="en-US" sz="3600" b="1" dirty="0" smtClean="0">
                <a:latin typeface="Arial" panose="020B0604020202020204" pitchFamily="34" charset="0"/>
                <a:ea typeface="Kozuka Gothic Pro H" pitchFamily="34" charset="-128"/>
                <a:cs typeface="Arial" panose="020B0604020202020204" pitchFamily="34" charset="0"/>
              </a:rPr>
              <a:t> ???</a:t>
            </a:r>
            <a:endParaRPr lang="en-US" sz="3600" b="1" dirty="0">
              <a:latin typeface="Arial" panose="020B0604020202020204" pitchFamily="34" charset="0"/>
              <a:ea typeface="Kozuka Gothic Pro H" pitchFamily="34" charset="-128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2650" y="0"/>
            <a:ext cx="4572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Connector 5"/>
          <p:cNvCxnSpPr/>
          <p:nvPr/>
        </p:nvCxnSpPr>
        <p:spPr>
          <a:xfrm>
            <a:off x="1771650" y="40386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771650" y="41148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:\Desktop\tndtanya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5650" y="4648200"/>
            <a:ext cx="2609850" cy="1752600"/>
          </a:xfrm>
          <a:prstGeom prst="rect">
            <a:avLst/>
          </a:prstGeom>
          <a:noFill/>
        </p:spPr>
      </p:pic>
      <p:pic>
        <p:nvPicPr>
          <p:cNvPr id="1027" name="Picture 3" descr="D:\Desktop\tndtanya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4876800"/>
            <a:ext cx="1885950" cy="1247775"/>
          </a:xfrm>
          <a:prstGeom prst="rect">
            <a:avLst/>
          </a:prstGeom>
          <a:noFill/>
        </p:spPr>
      </p:pic>
      <p:pic>
        <p:nvPicPr>
          <p:cNvPr id="1028" name="Picture 4" descr="D:\Desktop\tndtanya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62050" y="4572000"/>
            <a:ext cx="2457450" cy="1857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10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762000"/>
            <a:ext cx="7797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latin typeface="Segoe Print" pitchFamily="2" charset="0"/>
                <a:ea typeface="Cambria Math" pitchFamily="18" charset="0"/>
              </a:rPr>
              <a:t>REFERENSI . . .</a:t>
            </a:r>
            <a:endParaRPr lang="en-US" sz="3600" b="1" dirty="0">
              <a:latin typeface="Segoe Print" pitchFamily="2" charset="0"/>
              <a:ea typeface="Cambria Math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8572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Straight Connector 13"/>
          <p:cNvCxnSpPr/>
          <p:nvPr/>
        </p:nvCxnSpPr>
        <p:spPr>
          <a:xfrm>
            <a:off x="1143000" y="1524000"/>
            <a:ext cx="74676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43000" y="2286000"/>
            <a:ext cx="7095460" cy="13716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Russell, S., </a:t>
            </a:r>
            <a:r>
              <a:rPr lang="en-US" sz="2400" dirty="0" err="1"/>
              <a:t>Norvig</a:t>
            </a:r>
            <a:r>
              <a:rPr lang="en-US" sz="2400" dirty="0"/>
              <a:t>, P. </a:t>
            </a:r>
            <a:r>
              <a:rPr lang="en-US" sz="2400" b="1" i="1" dirty="0"/>
              <a:t>Artificial Intelligence A Modern Approach</a:t>
            </a:r>
            <a:r>
              <a:rPr lang="en-US" sz="2400" i="1" dirty="0"/>
              <a:t> (Third Edition)</a:t>
            </a:r>
            <a:r>
              <a:rPr lang="en-US" sz="2400" dirty="0"/>
              <a:t>. 2010. Pearson Education, USA.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Arabic Typesetting" pitchFamily="66" charset="-78"/>
                <a:cs typeface="Arabic Typesetting" pitchFamily="66" charset="-78"/>
              </a:rPr>
              <a:t>TUGAS PERORANGAN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752600" y="12192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752600" y="12954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533400" y="1600200"/>
            <a:ext cx="8077200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 smtClean="0">
                <a:ea typeface="Kozuka Gothic Pro H" pitchFamily="34" charset="-128"/>
              </a:rPr>
              <a:t>Buatlah</a:t>
            </a:r>
            <a:r>
              <a:rPr lang="en-US" sz="2800" dirty="0" smtClean="0">
                <a:ea typeface="Kozuka Gothic Pro H" pitchFamily="34" charset="-128"/>
              </a:rPr>
              <a:t> </a:t>
            </a:r>
            <a:r>
              <a:rPr lang="en-US" sz="2800" dirty="0" err="1">
                <a:ea typeface="Kozuka Gothic Pro H" pitchFamily="34" charset="-128"/>
              </a:rPr>
              <a:t>c</a:t>
            </a:r>
            <a:r>
              <a:rPr lang="en-US" sz="2800" dirty="0" err="1" smtClean="0">
                <a:ea typeface="Kozuka Gothic Pro H" pitchFamily="34" charset="-128"/>
              </a:rPr>
              <a:t>ontoh</a:t>
            </a:r>
            <a:r>
              <a:rPr lang="en-US" sz="2800" dirty="0" smtClean="0">
                <a:ea typeface="Kozuka Gothic Pro H" pitchFamily="34" charset="-128"/>
              </a:rPr>
              <a:t> PEAS </a:t>
            </a:r>
            <a:r>
              <a:rPr lang="en-US" sz="2800" dirty="0" err="1" smtClean="0">
                <a:ea typeface="Kozuka Gothic Pro H" pitchFamily="34" charset="-128"/>
              </a:rPr>
              <a:t>untuk</a:t>
            </a:r>
            <a:r>
              <a:rPr lang="en-US" sz="2800" dirty="0" smtClean="0">
                <a:ea typeface="Kozuka Gothic Pro H" pitchFamily="34" charset="-128"/>
              </a:rPr>
              <a:t> 10 </a:t>
            </a:r>
            <a:r>
              <a:rPr lang="en-US" sz="2800" dirty="0" err="1" smtClean="0">
                <a:ea typeface="Kozuka Gothic Pro H" pitchFamily="34" charset="-128"/>
              </a:rPr>
              <a:t>buah</a:t>
            </a:r>
            <a:r>
              <a:rPr lang="en-US" sz="2800" dirty="0" smtClean="0">
                <a:ea typeface="Kozuka Gothic Pro H" pitchFamily="34" charset="-128"/>
              </a:rPr>
              <a:t> agent!</a:t>
            </a:r>
            <a:endParaRPr lang="en-US" sz="2800" i="1" dirty="0" smtClean="0">
              <a:ea typeface="Kozuka Gothic Pro H" pitchFamily="34" charset="-128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1826"/>
              </p:ext>
            </p:extLst>
          </p:nvPr>
        </p:nvGraphicFramePr>
        <p:xfrm>
          <a:off x="609598" y="2514600"/>
          <a:ext cx="7620002" cy="292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7905"/>
                <a:gridCol w="1705632"/>
                <a:gridCol w="1380265"/>
                <a:gridCol w="1524000"/>
                <a:gridCol w="1219200"/>
                <a:gridCol w="1143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NO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TIPE AGEN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P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UKURAN PERFORMA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E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LINGKUNGAN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A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AKTUATOR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S</a:t>
                      </a:r>
                      <a:endParaRPr lang="en-US" b="1" dirty="0" smtClean="0"/>
                    </a:p>
                    <a:p>
                      <a:pPr algn="ctr"/>
                      <a:r>
                        <a:rPr lang="en-US" b="1" dirty="0" smtClean="0"/>
                        <a:t>SENSOR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ontent Placeholder 14"/>
          <p:cNvSpPr txBox="1">
            <a:spLocks/>
          </p:cNvSpPr>
          <p:nvPr/>
        </p:nvSpPr>
        <p:spPr>
          <a:xfrm>
            <a:off x="533400" y="5715000"/>
            <a:ext cx="8077200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 err="1" smtClean="0">
                <a:ea typeface="Kozuka Gothic Pro H" pitchFamily="34" charset="-128"/>
              </a:rPr>
              <a:t>Tuliskan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jawaban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Anda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pada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selembar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kertas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dan</a:t>
            </a:r>
            <a:r>
              <a:rPr lang="en-US" sz="2400" dirty="0" smtClean="0">
                <a:ea typeface="Kozuka Gothic Pro H" pitchFamily="34" charset="-128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r>
              <a:rPr lang="en-US" sz="2400" dirty="0" err="1" smtClean="0">
                <a:ea typeface="Kozuka Gothic Pro H" pitchFamily="34" charset="-128"/>
              </a:rPr>
              <a:t>kumpulkan</a:t>
            </a:r>
            <a:r>
              <a:rPr lang="en-US" sz="2400" dirty="0" smtClean="0">
                <a:ea typeface="Kozuka Gothic Pro H" pitchFamily="34" charset="-128"/>
              </a:rPr>
              <a:t> paling </a:t>
            </a:r>
            <a:r>
              <a:rPr lang="en-US" sz="2400" dirty="0" err="1" smtClean="0">
                <a:ea typeface="Kozuka Gothic Pro H" pitchFamily="34" charset="-128"/>
              </a:rPr>
              <a:t>lambat</a:t>
            </a:r>
            <a:r>
              <a:rPr lang="en-US" sz="2400" dirty="0" smtClean="0">
                <a:ea typeface="Kozuka Gothic Pro H" pitchFamily="34" charset="-128"/>
              </a:rPr>
              <a:t> H-1 </a:t>
            </a:r>
            <a:r>
              <a:rPr lang="en-US" sz="2400" dirty="0" err="1" smtClean="0">
                <a:ea typeface="Kozuka Gothic Pro H" pitchFamily="34" charset="-128"/>
              </a:rPr>
              <a:t>pertemuan</a:t>
            </a:r>
            <a:r>
              <a:rPr lang="en-US" sz="2400" dirty="0" smtClean="0">
                <a:ea typeface="Kozuka Gothic Pro H" pitchFamily="34" charset="-128"/>
              </a:rPr>
              <a:t> </a:t>
            </a:r>
            <a:r>
              <a:rPr lang="en-US" sz="2400" dirty="0" err="1" smtClean="0">
                <a:ea typeface="Kozuka Gothic Pro H" pitchFamily="34" charset="-128"/>
              </a:rPr>
              <a:t>selanjutnya</a:t>
            </a:r>
            <a:r>
              <a:rPr lang="en-US" sz="2400" dirty="0" smtClean="0">
                <a:ea typeface="Kozuka Gothic Pro H" pitchFamily="34" charset="-128"/>
              </a:rPr>
              <a:t> !</a:t>
            </a:r>
            <a:endParaRPr lang="en-US" sz="2400" i="1" dirty="0" smtClean="0">
              <a:ea typeface="Kozuka Gothic Pro H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124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00100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Arabic Typesetting" pitchFamily="66" charset="-78"/>
                <a:cs typeface="Arabic Typesetting" pitchFamily="66" charset="-78"/>
              </a:rPr>
              <a:t>PERSIAPAN TUGAS BESAR</a:t>
            </a:r>
            <a:br>
              <a:rPr lang="en-US" sz="2800" b="1" dirty="0" smtClean="0">
                <a:latin typeface="Arabic Typesetting" pitchFamily="66" charset="-78"/>
                <a:cs typeface="Arabic Typesetting" pitchFamily="66" charset="-78"/>
              </a:rPr>
            </a:br>
            <a:r>
              <a:rPr lang="en-US" sz="2800" b="1" dirty="0" smtClean="0">
                <a:latin typeface="Arabic Typesetting" pitchFamily="66" charset="-78"/>
                <a:cs typeface="Arabic Typesetting" pitchFamily="66" charset="-78"/>
              </a:rPr>
              <a:t>(KELOMPOK)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752600" y="13716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752600" y="1447800"/>
            <a:ext cx="5562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066800" y="1752600"/>
            <a:ext cx="7543800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 smtClean="0">
                <a:ea typeface="Kozuka Gothic Pro H" pitchFamily="34" charset="-128"/>
              </a:rPr>
              <a:t>1. </a:t>
            </a:r>
            <a:r>
              <a:rPr lang="en-US" sz="2400" b="1" i="1" dirty="0" err="1" smtClean="0">
                <a:ea typeface="Kozuka Gothic Pro H" pitchFamily="34" charset="-128"/>
              </a:rPr>
              <a:t>Pilihlah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salah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satu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dari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tema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berikut</a:t>
            </a:r>
            <a:r>
              <a:rPr lang="en-US" sz="2400" i="1" dirty="0">
                <a:ea typeface="Kozuka Gothic Pro H" pitchFamily="34" charset="-128"/>
              </a:rPr>
              <a:t>.</a:t>
            </a:r>
            <a:r>
              <a:rPr lang="en-US" sz="2400" b="1" i="1" dirty="0" smtClean="0">
                <a:ea typeface="Kozuka Gothic Pro H" pitchFamily="34" charset="-128"/>
              </a:rPr>
              <a:t> </a:t>
            </a:r>
          </a:p>
          <a:p>
            <a:pPr lvl="1">
              <a:buFontTx/>
              <a:buChar char="-"/>
            </a:pPr>
            <a:r>
              <a:rPr lang="en-US" sz="2400" i="1" dirty="0">
                <a:ea typeface="Kozuka Gothic Pro H" pitchFamily="34" charset="-128"/>
              </a:rPr>
              <a:t>Fuzzy</a:t>
            </a:r>
          </a:p>
          <a:p>
            <a:pPr lvl="1">
              <a:buFontTx/>
              <a:buChar char="-"/>
            </a:pPr>
            <a:r>
              <a:rPr lang="en-US" sz="2400" i="1" dirty="0" smtClean="0">
                <a:ea typeface="Kozuka Gothic Pro H" pitchFamily="34" charset="-128"/>
              </a:rPr>
              <a:t>Decision Tree</a:t>
            </a:r>
          </a:p>
          <a:p>
            <a:pPr lvl="1">
              <a:buFontTx/>
              <a:buChar char="-"/>
            </a:pPr>
            <a:r>
              <a:rPr lang="en-US" sz="2400" i="1" dirty="0" smtClean="0">
                <a:ea typeface="Kozuka Gothic Pro H" pitchFamily="34" charset="-128"/>
              </a:rPr>
              <a:t>Naïve Bayes</a:t>
            </a:r>
          </a:p>
          <a:p>
            <a:pPr lvl="1">
              <a:buFontTx/>
              <a:buChar char="-"/>
            </a:pPr>
            <a:r>
              <a:rPr lang="en-US" sz="2400" i="1" dirty="0" smtClean="0">
                <a:ea typeface="Kozuka Gothic Pro H" pitchFamily="34" charset="-128"/>
              </a:rPr>
              <a:t>Neural Network</a:t>
            </a:r>
          </a:p>
          <a:p>
            <a:pPr lvl="1">
              <a:buFontTx/>
              <a:buChar char="-"/>
            </a:pPr>
            <a:r>
              <a:rPr lang="en-US" sz="2400" i="1" dirty="0" smtClean="0">
                <a:ea typeface="Kozuka Gothic Pro H" pitchFamily="34" charset="-128"/>
              </a:rPr>
              <a:t>K-Means</a:t>
            </a:r>
          </a:p>
          <a:p>
            <a:pPr>
              <a:buFontTx/>
              <a:buChar char="-"/>
            </a:pPr>
            <a:endParaRPr lang="en-US" sz="2400" i="1" dirty="0">
              <a:ea typeface="Kozuka Gothic Pro H" pitchFamily="34" charset="-128"/>
            </a:endParaRPr>
          </a:p>
          <a:p>
            <a:pPr marL="0" indent="0">
              <a:buNone/>
            </a:pPr>
            <a:r>
              <a:rPr lang="en-US" sz="2400" b="1" i="1" dirty="0" smtClean="0">
                <a:ea typeface="Kozuka Gothic Pro H" pitchFamily="34" charset="-128"/>
              </a:rPr>
              <a:t>2. </a:t>
            </a:r>
            <a:r>
              <a:rPr lang="en-US" sz="2400" b="1" i="1" dirty="0" err="1" smtClean="0">
                <a:ea typeface="Kozuka Gothic Pro H" pitchFamily="34" charset="-128"/>
              </a:rPr>
              <a:t>Buatlah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b="1" i="1" dirty="0" err="1" smtClean="0">
                <a:ea typeface="Kozuka Gothic Pro H" pitchFamily="34" charset="-128"/>
              </a:rPr>
              <a:t>makalah</a:t>
            </a:r>
            <a:r>
              <a:rPr lang="en-US" sz="2400" i="1" dirty="0" smtClean="0">
                <a:ea typeface="Kozuka Gothic Pro H" pitchFamily="34" charset="-128"/>
              </a:rPr>
              <a:t> (per </a:t>
            </a:r>
            <a:r>
              <a:rPr lang="en-US" sz="2400" i="1" dirty="0" err="1" smtClean="0">
                <a:ea typeface="Kozuka Gothic Pro H" pitchFamily="34" charset="-128"/>
              </a:rPr>
              <a:t>kelompok</a:t>
            </a:r>
            <a:r>
              <a:rPr lang="en-US" sz="2400" i="1" dirty="0" smtClean="0">
                <a:ea typeface="Kozuka Gothic Pro H" pitchFamily="34" charset="-128"/>
              </a:rPr>
              <a:t>) </a:t>
            </a:r>
            <a:r>
              <a:rPr lang="en-US" sz="2400" i="1" dirty="0" err="1" smtClean="0">
                <a:ea typeface="Kozuka Gothic Pro H" pitchFamily="34" charset="-128"/>
              </a:rPr>
              <a:t>tentang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pengertian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dan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contoh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dari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algoritma</a:t>
            </a:r>
            <a:r>
              <a:rPr lang="en-US" sz="2400" i="1" dirty="0">
                <a:ea typeface="Kozuka Gothic Pro H" pitchFamily="34" charset="-128"/>
              </a:rPr>
              <a:t> </a:t>
            </a:r>
            <a:r>
              <a:rPr lang="en-US" sz="2400" i="1" dirty="0" smtClean="0">
                <a:ea typeface="Kozuka Gothic Pro H" pitchFamily="34" charset="-128"/>
              </a:rPr>
              <a:t>yang </a:t>
            </a:r>
            <a:r>
              <a:rPr lang="en-US" sz="2400" i="1" dirty="0" err="1" smtClean="0">
                <a:ea typeface="Kozuka Gothic Pro H" pitchFamily="34" charset="-128"/>
              </a:rPr>
              <a:t>kelompok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anda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pilih</a:t>
            </a:r>
            <a:r>
              <a:rPr lang="en-US" sz="2400" i="1" dirty="0" smtClean="0">
                <a:ea typeface="Kozuka Gothic Pro H" pitchFamily="34" charset="-128"/>
              </a:rPr>
              <a:t>.</a:t>
            </a:r>
          </a:p>
          <a:p>
            <a:pPr marL="0" indent="0">
              <a:buNone/>
            </a:pPr>
            <a:endParaRPr lang="en-US" sz="2400" i="1" dirty="0">
              <a:ea typeface="Kozuka Gothic Pro H" pitchFamily="34" charset="-128"/>
            </a:endParaRPr>
          </a:p>
          <a:p>
            <a:pPr marL="0" indent="0">
              <a:buNone/>
            </a:pPr>
            <a:r>
              <a:rPr lang="en-US" sz="2400" i="1" dirty="0" err="1" smtClean="0">
                <a:ea typeface="Kozuka Gothic Pro H" pitchFamily="34" charset="-128"/>
              </a:rPr>
              <a:t>Kumpulkan</a:t>
            </a:r>
            <a:r>
              <a:rPr lang="en-US" sz="2400" i="1" dirty="0" smtClean="0">
                <a:ea typeface="Kozuka Gothic Pro H" pitchFamily="34" charset="-128"/>
              </a:rPr>
              <a:t> paling </a:t>
            </a:r>
            <a:r>
              <a:rPr lang="en-US" sz="2400" i="1" dirty="0" err="1" smtClean="0">
                <a:ea typeface="Kozuka Gothic Pro H" pitchFamily="34" charset="-128"/>
              </a:rPr>
              <a:t>lambat</a:t>
            </a:r>
            <a:r>
              <a:rPr lang="en-US" sz="2400" i="1" dirty="0" smtClean="0">
                <a:ea typeface="Kozuka Gothic Pro H" pitchFamily="34" charset="-128"/>
              </a:rPr>
              <a:t> H-1 </a:t>
            </a:r>
            <a:r>
              <a:rPr lang="en-US" sz="2400" i="1" dirty="0" err="1" smtClean="0">
                <a:ea typeface="Kozuka Gothic Pro H" pitchFamily="34" charset="-128"/>
              </a:rPr>
              <a:t>pertemuan</a:t>
            </a:r>
            <a:r>
              <a:rPr lang="en-US" sz="2400" i="1" dirty="0" smtClean="0">
                <a:ea typeface="Kozuka Gothic Pro H" pitchFamily="34" charset="-128"/>
              </a:rPr>
              <a:t> </a:t>
            </a:r>
            <a:r>
              <a:rPr lang="en-US" sz="2400" i="1" dirty="0" err="1" smtClean="0">
                <a:ea typeface="Kozuka Gothic Pro H" pitchFamily="34" charset="-128"/>
              </a:rPr>
              <a:t>selanjutnya</a:t>
            </a:r>
            <a:r>
              <a:rPr lang="en-US" sz="2400" i="1" dirty="0" smtClean="0">
                <a:ea typeface="Kozuka Gothic Pro H" pitchFamily="34" charset="-128"/>
              </a:rPr>
              <a:t> !</a:t>
            </a:r>
            <a:endParaRPr lang="en-US" sz="2400" i="1" dirty="0">
              <a:ea typeface="Kozuka Gothic Pro H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52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4867</TotalTime>
  <Words>642</Words>
  <Application>Microsoft Office PowerPoint</Application>
  <PresentationFormat>On-screen Show (4:3)</PresentationFormat>
  <Paragraphs>243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 Unicode MS</vt:lpstr>
      <vt:lpstr>Arabic Typesetting</vt:lpstr>
      <vt:lpstr>Arial</vt:lpstr>
      <vt:lpstr>Arial Rounded MT Bold</vt:lpstr>
      <vt:lpstr>Calibri</vt:lpstr>
      <vt:lpstr>Cambria Math</vt:lpstr>
      <vt:lpstr>Kozuka Gothic Pro H</vt:lpstr>
      <vt:lpstr>Segoe Print</vt:lpstr>
      <vt:lpstr>Wingdings</vt:lpstr>
      <vt:lpstr>Office Theme</vt:lpstr>
      <vt:lpstr>MATERI PERKULIAHAN KECERDASAN BUATAN</vt:lpstr>
      <vt:lpstr>PowerPoint Presentation</vt:lpstr>
      <vt:lpstr>PowerPoint Presentation</vt:lpstr>
      <vt:lpstr>PowerPoint Presentation</vt:lpstr>
      <vt:lpstr>P E N G E R T I A 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 A S I O N A L I T A 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 I N G K U N G A N (environment)</vt:lpstr>
      <vt:lpstr>PowerPoint Presentation</vt:lpstr>
      <vt:lpstr>PowerPoint Presentation</vt:lpstr>
      <vt:lpstr>PowerPoint Presentation</vt:lpstr>
      <vt:lpstr>PowerPoint Presentation</vt:lpstr>
      <vt:lpstr>S T R U K T U R  A G E N T</vt:lpstr>
      <vt:lpstr>PowerPoint Presentation</vt:lpstr>
      <vt:lpstr>T I P E   A G E N 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TUGAS PERORANGAN</vt:lpstr>
      <vt:lpstr>PERSIAPAN TUGAS BESAR (KELOMPOK)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&lt;PBO&gt;</dc:title>
  <dc:creator>Ken</dc:creator>
  <cp:lastModifiedBy>Microsoft account</cp:lastModifiedBy>
  <cp:revision>420</cp:revision>
  <dcterms:created xsi:type="dcterms:W3CDTF">2012-02-22T14:18:32Z</dcterms:created>
  <dcterms:modified xsi:type="dcterms:W3CDTF">2017-10-09T04:03:15Z</dcterms:modified>
</cp:coreProperties>
</file>