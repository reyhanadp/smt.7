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88" r:id="rId2"/>
    <p:sldId id="275" r:id="rId3"/>
    <p:sldId id="352" r:id="rId4"/>
    <p:sldId id="301" r:id="rId5"/>
    <p:sldId id="354" r:id="rId6"/>
    <p:sldId id="355" r:id="rId7"/>
    <p:sldId id="357" r:id="rId8"/>
    <p:sldId id="358" r:id="rId9"/>
    <p:sldId id="360" r:id="rId10"/>
    <p:sldId id="359" r:id="rId11"/>
    <p:sldId id="361" r:id="rId12"/>
    <p:sldId id="363" r:id="rId13"/>
    <p:sldId id="362" r:id="rId14"/>
    <p:sldId id="379" r:id="rId15"/>
    <p:sldId id="377" r:id="rId16"/>
    <p:sldId id="378" r:id="rId17"/>
    <p:sldId id="376" r:id="rId18"/>
    <p:sldId id="375" r:id="rId19"/>
    <p:sldId id="365" r:id="rId20"/>
    <p:sldId id="366" r:id="rId21"/>
    <p:sldId id="367" r:id="rId22"/>
    <p:sldId id="364" r:id="rId23"/>
    <p:sldId id="368" r:id="rId24"/>
    <p:sldId id="369" r:id="rId25"/>
    <p:sldId id="371" r:id="rId26"/>
    <p:sldId id="370" r:id="rId27"/>
    <p:sldId id="329" r:id="rId28"/>
    <p:sldId id="271" r:id="rId29"/>
    <p:sldId id="286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095" autoAdjust="0"/>
  </p:normalViewPr>
  <p:slideViewPr>
    <p:cSldViewPr>
      <p:cViewPr varScale="1">
        <p:scale>
          <a:sx n="65" d="100"/>
          <a:sy n="65" d="100"/>
        </p:scale>
        <p:origin x="1208" y="5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BEB4C-2375-408B-B431-73A8E3C912EC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E876F-4345-4EF1-8165-736D3F3290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38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39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91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78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03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03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64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16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61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39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4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97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831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038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388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59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31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79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673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860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256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951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602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584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4270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353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157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491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200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3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40B23-A085-4CE6-9AD9-2B63A9CABB7F}" type="datetimeFigureOut">
              <a:rPr lang="en-US" smtClean="0"/>
              <a:pPr/>
              <a:t>10/31/2017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620000" cy="1524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MATERI PERKULIAHAN</a:t>
            </a:r>
            <a:br>
              <a:rPr lang="en-US" sz="18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</a:br>
            <a:r>
              <a:rPr lang="en-US" sz="28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KECERDASAN BUATAN</a:t>
            </a:r>
            <a:endParaRPr lang="en-US" sz="2800" b="1" dirty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943600"/>
            <a:ext cx="4572000" cy="533400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Print" panose="02000600000000000000" pitchFamily="2" charset="0"/>
                <a:ea typeface="Cambria Math" pitchFamily="18" charset="0"/>
              </a:rPr>
              <a:t>Ken </a:t>
            </a:r>
            <a:r>
              <a:rPr lang="en-US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Print" panose="02000600000000000000" pitchFamily="2" charset="0"/>
                <a:ea typeface="Cambria Math" pitchFamily="18" charset="0"/>
              </a:rPr>
              <a:t>Kinanti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Print" panose="02000600000000000000" pitchFamily="2" charset="0"/>
                <a:ea typeface="Cambria Math" pitchFamily="18" charset="0"/>
              </a:rPr>
              <a:t> </a:t>
            </a:r>
            <a:r>
              <a:rPr lang="en-US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Print" panose="02000600000000000000" pitchFamily="2" charset="0"/>
                <a:ea typeface="Cambria Math" pitchFamily="18" charset="0"/>
              </a:rPr>
              <a:t>Purnamasari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  <a:latin typeface="Segoe Print" panose="02000600000000000000" pitchFamily="2" charset="0"/>
              <a:ea typeface="Cambria Math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66800" y="2858869"/>
            <a:ext cx="701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38600" y="3849469"/>
            <a:ext cx="1219200" cy="64633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4</a:t>
            </a:r>
            <a:endParaRPr lang="en-US" sz="3600" b="1" dirty="0"/>
          </a:p>
        </p:txBody>
      </p:sp>
      <p:pic>
        <p:nvPicPr>
          <p:cNvPr id="3074" name="Picture 2" descr="E:\Pictures\logo_unikom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5022" y="304800"/>
            <a:ext cx="984178" cy="997301"/>
          </a:xfrm>
          <a:prstGeom prst="rect">
            <a:avLst/>
          </a:prstGeom>
          <a:noFill/>
        </p:spPr>
      </p:pic>
      <p:cxnSp>
        <p:nvCxnSpPr>
          <p:cNvPr id="7" name="Straight Connector 6"/>
          <p:cNvCxnSpPr/>
          <p:nvPr/>
        </p:nvCxnSpPr>
        <p:spPr>
          <a:xfrm>
            <a:off x="1066800" y="3544669"/>
            <a:ext cx="701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66800" y="3011269"/>
            <a:ext cx="701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Segoe Print" pitchFamily="2" charset="0"/>
                <a:ea typeface="Cambria Math" pitchFamily="18" charset="0"/>
              </a:rPr>
              <a:t>LEARNING</a:t>
            </a:r>
            <a:endParaRPr lang="en-US" sz="2000" b="1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8675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4733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Rectangle 17"/>
          <p:cNvSpPr/>
          <p:nvPr/>
        </p:nvSpPr>
        <p:spPr>
          <a:xfrm>
            <a:off x="1066800" y="304800"/>
            <a:ext cx="7797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b="1" dirty="0" smtClean="0">
              <a:latin typeface="Segoe Print" pitchFamily="2" charset="0"/>
              <a:ea typeface="Cambria Math" pitchFamily="18" charset="0"/>
            </a:endParaRPr>
          </a:p>
          <a:p>
            <a:r>
              <a:rPr lang="en-US" sz="3600" b="1" dirty="0" err="1" smtClean="0">
                <a:latin typeface="Segoe Print" pitchFamily="2" charset="0"/>
                <a:ea typeface="Cambria Math" pitchFamily="18" charset="0"/>
              </a:rPr>
              <a:t>Tujuan</a:t>
            </a:r>
            <a:endParaRPr lang="en-US" sz="3200" b="1" dirty="0">
              <a:latin typeface="Segoe Print" pitchFamily="2" charset="0"/>
              <a:ea typeface="Cambria Math" pitchFamily="18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1143000" y="1524000"/>
            <a:ext cx="74676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90600" y="2057400"/>
            <a:ext cx="762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sz="3200" dirty="0" err="1" smtClean="0">
                <a:latin typeface="Cambria Math" pitchFamily="18" charset="0"/>
                <a:ea typeface="Cambria Math" pitchFamily="18" charset="0"/>
              </a:rPr>
              <a:t>Memahami</a:t>
            </a:r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3200" dirty="0" err="1" smtClean="0">
                <a:latin typeface="Cambria Math" pitchFamily="18" charset="0"/>
                <a:ea typeface="Cambria Math" pitchFamily="18" charset="0"/>
              </a:rPr>
              <a:t>konsep</a:t>
            </a:r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3200" dirty="0" err="1" smtClean="0">
                <a:latin typeface="Cambria Math" pitchFamily="18" charset="0"/>
                <a:ea typeface="Cambria Math" pitchFamily="18" charset="0"/>
              </a:rPr>
              <a:t>algoritma</a:t>
            </a:r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3200" b="1" i="1" dirty="0" smtClean="0">
                <a:latin typeface="Cambria Math" pitchFamily="18" charset="0"/>
                <a:ea typeface="Cambria Math" pitchFamily="18" charset="0"/>
              </a:rPr>
              <a:t>Learning</a:t>
            </a:r>
            <a:endParaRPr lang="en-US" sz="3200" i="1" dirty="0" smtClean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7000"/>
            <a:ext cx="76200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  <a:t>L E A R N I N 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524000" y="4037012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524000" y="2438400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59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371600"/>
            <a:ext cx="8458200" cy="4800600"/>
          </a:xfrm>
        </p:spPr>
        <p:txBody>
          <a:bodyPr>
            <a:no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Proses </a:t>
            </a:r>
            <a:r>
              <a:rPr lang="en-US" sz="28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pengalaman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(E)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8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tugas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(T)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8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performa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(P)</a:t>
            </a:r>
          </a:p>
          <a:p>
            <a:pPr marL="0" indent="0" algn="ctr">
              <a:lnSpc>
                <a:spcPct val="160000"/>
              </a:lnSpc>
              <a:buNone/>
            </a:pPr>
            <a:endParaRPr lang="en-US" sz="28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60000"/>
              </a:lnSpc>
              <a:buNone/>
            </a:pPr>
            <a:endParaRPr lang="en-US" sz="2800" b="1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60000"/>
              </a:lnSpc>
              <a:buNone/>
            </a:pPr>
            <a:endParaRPr lang="en-US" sz="2800" b="1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E :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  <a:r>
              <a:rPr lang="en-US" sz="2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, T :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Class of Tasks</a:t>
            </a:r>
            <a:r>
              <a:rPr lang="en-US" sz="2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, P :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Performance Measure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LEARNING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83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Contoh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LEARNING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54826"/>
              </p:ext>
            </p:extLst>
          </p:nvPr>
        </p:nvGraphicFramePr>
        <p:xfrm>
          <a:off x="1000125" y="1371600"/>
          <a:ext cx="7381875" cy="26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95675"/>
                <a:gridCol w="3886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KRITERIA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KETERANGAN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Kasus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Permainan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Catur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Task </a:t>
                      </a:r>
                      <a:r>
                        <a:rPr lang="en-US" sz="2400" b="1" i="1" dirty="0" smtClean="0"/>
                        <a:t>(T)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Bermain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baseline="0" dirty="0" err="1" smtClean="0"/>
                        <a:t>Catur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Performance Measure </a:t>
                      </a:r>
                      <a:r>
                        <a:rPr lang="en-US" sz="2400" b="1" i="1" dirty="0" smtClean="0"/>
                        <a:t>(P)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Persentase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kemenangan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melawan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musuh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Training</a:t>
                      </a:r>
                      <a:r>
                        <a:rPr lang="en-US" sz="2400" b="1" baseline="0" dirty="0" smtClean="0"/>
                        <a:t> Experience </a:t>
                      </a:r>
                      <a:r>
                        <a:rPr lang="en-US" sz="2400" b="1" i="1" baseline="0" dirty="0" smtClean="0"/>
                        <a:t>(E)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Berlatih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dengan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diri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sendiri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04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295275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Contoh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LEARNING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804393"/>
              </p:ext>
            </p:extLst>
          </p:nvPr>
        </p:nvGraphicFramePr>
        <p:xfrm>
          <a:off x="1000125" y="1371600"/>
          <a:ext cx="7381875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95675"/>
                <a:gridCol w="3886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KRITERIA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KETERANGAN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 smtClean="0"/>
                        <a:t>Kasus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Pengenalan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Tulisan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Tangan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Task </a:t>
                      </a:r>
                      <a:r>
                        <a:rPr lang="en-US" sz="2400" b="1" i="1" dirty="0" smtClean="0"/>
                        <a:t>(T)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Mengenali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dan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mengklasifikasi</a:t>
                      </a:r>
                      <a:r>
                        <a:rPr lang="en-US" sz="2400" dirty="0" smtClean="0"/>
                        <a:t> kata-kata </a:t>
                      </a:r>
                      <a:r>
                        <a:rPr lang="en-US" sz="2400" dirty="0" err="1" smtClean="0"/>
                        <a:t>dalam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tulisan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Performance Measure </a:t>
                      </a:r>
                      <a:r>
                        <a:rPr lang="en-US" sz="2400" b="1" i="1" dirty="0" smtClean="0"/>
                        <a:t>(P)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Persentase</a:t>
                      </a:r>
                      <a:r>
                        <a:rPr lang="en-US" sz="2400" baseline="0" dirty="0" smtClean="0"/>
                        <a:t> kata-kata yang </a:t>
                      </a:r>
                      <a:r>
                        <a:rPr lang="en-US" sz="2400" baseline="0" dirty="0" err="1" smtClean="0"/>
                        <a:t>berhasil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baseline="0" dirty="0" err="1" smtClean="0"/>
                        <a:t>diklasifikasi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Training</a:t>
                      </a:r>
                      <a:r>
                        <a:rPr lang="en-US" sz="2400" b="1" baseline="0" dirty="0" smtClean="0"/>
                        <a:t> Experience </a:t>
                      </a:r>
                      <a:r>
                        <a:rPr lang="en-US" sz="2400" b="1" i="1" baseline="0" dirty="0" smtClean="0"/>
                        <a:t>(E)</a:t>
                      </a:r>
                      <a:endParaRPr lang="en-US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Data-data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baseline="0" dirty="0" err="1" smtClean="0"/>
                        <a:t>tulisan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baseline="0" dirty="0" err="1" smtClean="0"/>
                        <a:t>tangan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baseline="0" dirty="0" err="1" smtClean="0"/>
                        <a:t>dengan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baseline="0" dirty="0" err="1" smtClean="0"/>
                        <a:t>kelasnya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baseline="0" dirty="0" err="1" smtClean="0"/>
                        <a:t>masing-masing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i="1" baseline="0" dirty="0" smtClean="0"/>
                        <a:t>(given classifications)</a:t>
                      </a:r>
                      <a:endParaRPr lang="en-US" sz="2400" i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06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990600" y="1266885"/>
            <a:ext cx="787410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Tidak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semua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kemungkinan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situasi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dapat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didefinisikan</a:t>
            </a:r>
            <a:endParaRPr lang="en-US" sz="2400" dirty="0" smtClean="0">
              <a:latin typeface="+mj-lt"/>
              <a:ea typeface="Cambria Math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contoh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: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peta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labirin</a:t>
            </a:r>
            <a:endParaRPr lang="en-US" sz="2400" i="1" dirty="0" smtClean="0">
              <a:latin typeface="+mj-lt"/>
              <a:ea typeface="Cambria Math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400" i="1" dirty="0" smtClean="0">
              <a:latin typeface="+mj-lt"/>
              <a:ea typeface="Cambria Math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Tidak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semua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perubahan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dapat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diantisipasi</a:t>
            </a:r>
            <a:endParaRPr lang="en-US" sz="2400" dirty="0">
              <a:latin typeface="+mj-lt"/>
              <a:ea typeface="Cambria Math" pitchFamily="18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contoh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: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perubahan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pola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permintaan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barang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, </a:t>
            </a:r>
          </a:p>
          <a:p>
            <a:pPr lvl="1">
              <a:lnSpc>
                <a:spcPct val="150000"/>
              </a:lnSpc>
            </a:pPr>
            <a:r>
              <a:rPr lang="en-US" sz="2400" i="1" dirty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	 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bahasa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alay</a:t>
            </a:r>
            <a:endParaRPr lang="en-US" sz="2400" i="1" dirty="0" smtClean="0">
              <a:latin typeface="+mj-lt"/>
              <a:ea typeface="Cambria Math" pitchFamily="18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2400" i="1" dirty="0" smtClean="0">
              <a:latin typeface="+mj-lt"/>
              <a:ea typeface="Cambria Math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Ada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beberapa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tugas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yang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sulit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dibuat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aturannya</a:t>
            </a:r>
            <a:endParaRPr lang="en-US" sz="2400" dirty="0" smtClean="0">
              <a:latin typeface="+mj-lt"/>
              <a:ea typeface="Cambria Math" pitchFamily="18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contoh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: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mengenali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wajah</a:t>
            </a:r>
            <a:endParaRPr lang="en-US" sz="2400" i="1" dirty="0" smtClean="0">
              <a:latin typeface="+mj-lt"/>
              <a:ea typeface="Cambria Math" pitchFamily="18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>
                <a:latin typeface="Segoe Print" pitchFamily="2" charset="0"/>
                <a:ea typeface="Cambria Math" pitchFamily="18" charset="0"/>
              </a:rPr>
              <a:t>Mengapa</a:t>
            </a:r>
            <a:r>
              <a:rPr lang="en-US" sz="3600" b="1" u="sng" dirty="0">
                <a:latin typeface="Segoe Print" pitchFamily="2" charset="0"/>
                <a:ea typeface="Cambria Math" pitchFamily="18" charset="0"/>
              </a:rPr>
              <a:t> </a:t>
            </a:r>
            <a:r>
              <a:rPr lang="en-US" sz="3600" b="1" u="sng" dirty="0" err="1">
                <a:latin typeface="Segoe Print" pitchFamily="2" charset="0"/>
                <a:ea typeface="Cambria Math" pitchFamily="18" charset="0"/>
              </a:rPr>
              <a:t>harus</a:t>
            </a:r>
            <a:r>
              <a:rPr lang="en-US" sz="3600" b="1" u="sng" dirty="0">
                <a:latin typeface="Segoe Print" pitchFamily="2" charset="0"/>
                <a:ea typeface="Cambria Math" pitchFamily="18" charset="0"/>
              </a:rPr>
              <a:t> </a:t>
            </a:r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Belajar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?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97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1066800" y="1166842"/>
            <a:ext cx="78741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b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KOMPONEN : </a:t>
            </a:r>
          </a:p>
          <a:p>
            <a:pPr>
              <a:lnSpc>
                <a:spcPct val="150000"/>
              </a:lnSpc>
            </a:pPr>
            <a:r>
              <a:rPr lang="en-US" sz="2400" b="1" i="1" dirty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Komponen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mana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yang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akan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ditingkatkan</a:t>
            </a:r>
            <a:endParaRPr lang="en-US" sz="2400" i="1" dirty="0" smtClean="0">
              <a:latin typeface="+mj-lt"/>
              <a:ea typeface="Cambria Math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b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PENGETAHUAN AWAL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(prior knowledge) 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Apa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pengetahuan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awal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yang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sudah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dimiliki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agent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b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REPRESENTASI DATA &amp; KOMPONEN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2400" i="1" dirty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Bagaimana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representasi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yang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digunakan</a:t>
            </a:r>
            <a:endParaRPr lang="en-US" sz="2400" i="1" dirty="0" smtClean="0">
              <a:latin typeface="+mj-lt"/>
              <a:ea typeface="Cambria Math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b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UMPAN BALIK 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(feedback)</a:t>
            </a:r>
            <a:r>
              <a:rPr lang="en-US" sz="2400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:</a:t>
            </a:r>
          </a:p>
          <a:p>
            <a:pPr>
              <a:lnSpc>
                <a:spcPct val="150000"/>
              </a:lnSpc>
            </a:pP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Apa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feedback yang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dapat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dipelajari</a:t>
            </a:r>
            <a:endParaRPr lang="en-US" sz="2400" i="1" dirty="0" smtClean="0">
              <a:latin typeface="+mj-lt"/>
              <a:ea typeface="Cambria Math" pitchFamily="18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90600" y="276225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Faktor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</a:t>
            </a:r>
            <a:r>
              <a:rPr lang="en-US" sz="3600" b="1" u="sng" dirty="0" err="1">
                <a:latin typeface="Segoe Print" pitchFamily="2" charset="0"/>
                <a:ea typeface="Cambria Math" pitchFamily="18" charset="0"/>
              </a:rPr>
              <a:t>Utama</a:t>
            </a:r>
            <a:r>
              <a:rPr lang="en-US" sz="3600" b="1" u="sng" dirty="0">
                <a:latin typeface="Segoe Print" pitchFamily="2" charset="0"/>
                <a:ea typeface="Cambria Math" pitchFamily="18" charset="0"/>
              </a:rPr>
              <a:t> </a:t>
            </a:r>
            <a:r>
              <a:rPr lang="en-US" sz="3600" b="1" u="sng" dirty="0" err="1">
                <a:latin typeface="Segoe Print" pitchFamily="2" charset="0"/>
                <a:ea typeface="Cambria Math" pitchFamily="18" charset="0"/>
              </a:rPr>
              <a:t>Pembelajaran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50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Representasi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Data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5224" y="4218800"/>
            <a:ext cx="2080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schemeClr val="tx2"/>
                </a:solidFill>
              </a:rPr>
              <a:t>Vector</a:t>
            </a:r>
            <a:endParaRPr lang="en-US" sz="2400" b="1" i="1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0" y="1752600"/>
            <a:ext cx="1981200" cy="1066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966514" y="2286000"/>
            <a:ext cx="8382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514600" y="2276475"/>
            <a:ext cx="8382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76" y="1371600"/>
            <a:ext cx="122301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7507" y="3849469"/>
            <a:ext cx="2080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schemeClr val="tx2"/>
                </a:solidFill>
              </a:rPr>
              <a:t>Continuous / Discrete Values</a:t>
            </a:r>
            <a:endParaRPr lang="en-US" sz="2400" b="1" i="1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51478" y="1614755"/>
            <a:ext cx="79237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?</a:t>
            </a:r>
            <a:endParaRPr lang="en-US" sz="8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652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990600" y="1295400"/>
            <a:ext cx="787410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b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SUPERVISED</a:t>
            </a:r>
          </a:p>
          <a:p>
            <a:pPr>
              <a:lnSpc>
                <a:spcPct val="150000"/>
              </a:lnSpc>
            </a:pPr>
            <a:r>
              <a:rPr lang="en-US" sz="2400" b="1" i="1" dirty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belajar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dari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pasangan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input-output (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contekan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2400" i="1" dirty="0" smtClean="0">
              <a:latin typeface="+mj-lt"/>
              <a:ea typeface="Cambria Math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b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UNSUPERVISED</a:t>
            </a:r>
          </a:p>
          <a:p>
            <a:pPr lvl="1">
              <a:lnSpc>
                <a:spcPct val="150000"/>
              </a:lnSpc>
            </a:pPr>
            <a:r>
              <a:rPr lang="en-US" sz="2400" b="1" i="1" dirty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err="1" smtClean="0">
                <a:ea typeface="Cambria Math" pitchFamily="18" charset="0"/>
                <a:cs typeface="Arial" panose="020B0604020202020204" pitchFamily="34" charset="0"/>
              </a:rPr>
              <a:t>belajar</a:t>
            </a:r>
            <a:r>
              <a:rPr lang="en-US" sz="2400" i="1" dirty="0" smtClean="0"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ea typeface="Cambria Math" pitchFamily="18" charset="0"/>
                <a:cs typeface="Arial" panose="020B0604020202020204" pitchFamily="34" charset="0"/>
              </a:rPr>
              <a:t>tanpa</a:t>
            </a:r>
            <a:r>
              <a:rPr lang="en-US" sz="2400" i="1" dirty="0" smtClean="0"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ea typeface="Cambria Math" pitchFamily="18" charset="0"/>
                <a:cs typeface="Arial" panose="020B0604020202020204" pitchFamily="34" charset="0"/>
              </a:rPr>
              <a:t>pasangan</a:t>
            </a:r>
            <a:r>
              <a:rPr lang="en-US" sz="2400" i="1" dirty="0" smtClean="0">
                <a:ea typeface="Cambria Math" pitchFamily="18" charset="0"/>
                <a:cs typeface="Arial" panose="020B0604020202020204" pitchFamily="34" charset="0"/>
              </a:rPr>
              <a:t> input-output</a:t>
            </a:r>
          </a:p>
          <a:p>
            <a:pPr lvl="1">
              <a:lnSpc>
                <a:spcPct val="150000"/>
              </a:lnSpc>
            </a:pPr>
            <a:endParaRPr lang="en-US" sz="2400" i="1" dirty="0" smtClean="0">
              <a:ea typeface="Cambria Math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b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SEMI-SUPERVISED</a:t>
            </a:r>
          </a:p>
          <a:p>
            <a:pPr lvl="1">
              <a:lnSpc>
                <a:spcPct val="150000"/>
              </a:lnSpc>
            </a:pP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Gabungan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SUPERVISED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dan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UNSUPERVISED </a:t>
            </a:r>
          </a:p>
          <a:p>
            <a:pPr lvl="1">
              <a:lnSpc>
                <a:spcPct val="150000"/>
              </a:lnSpc>
            </a:pPr>
            <a:r>
              <a:rPr lang="en-US" sz="2400" i="1" dirty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(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biasanya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karena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banyak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noise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atau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kurangnya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data)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Umpan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</a:t>
            </a:r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Balik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</a:t>
            </a:r>
            <a:r>
              <a:rPr lang="en-US" sz="2800" u="sng" dirty="0" smtClean="0">
                <a:latin typeface="Segoe Print" pitchFamily="2" charset="0"/>
                <a:ea typeface="Cambria Math" pitchFamily="18" charset="0"/>
              </a:rPr>
              <a:t>(feedback)</a:t>
            </a:r>
            <a:endParaRPr lang="en-US" sz="3200" u="sng" dirty="0">
              <a:latin typeface="Segoe Print" pitchFamily="2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21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990600" y="1295400"/>
            <a:ext cx="78741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b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REINFORCEMENT</a:t>
            </a:r>
          </a:p>
          <a:p>
            <a:pPr>
              <a:lnSpc>
                <a:spcPct val="150000"/>
              </a:lnSpc>
            </a:pPr>
            <a:r>
              <a:rPr lang="en-US" sz="2400" b="1" i="1" dirty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belajar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dari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efek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suatu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tindakan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, yang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berupa</a:t>
            </a:r>
            <a:endParaRPr lang="en-US" sz="2400" i="1" dirty="0">
              <a:latin typeface="+mj-lt"/>
              <a:ea typeface="Cambria Math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	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hadiah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(reward)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dan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hukuman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(punishment)</a:t>
            </a:r>
            <a:endParaRPr lang="en-US" sz="2400" i="1" dirty="0" smtClean="0">
              <a:latin typeface="+mj-lt"/>
              <a:ea typeface="Cambria Math" pitchFamily="18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Umpan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</a:t>
            </a:r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Balik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</a:t>
            </a:r>
            <a:r>
              <a:rPr lang="en-US" sz="2800" u="sng" dirty="0" smtClean="0">
                <a:latin typeface="Segoe Print" pitchFamily="2" charset="0"/>
                <a:ea typeface="Cambria Math" pitchFamily="18" charset="0"/>
              </a:rPr>
              <a:t>(feedback)</a:t>
            </a:r>
            <a:endParaRPr lang="en-US" sz="3200" u="sng" dirty="0">
              <a:latin typeface="Segoe Print" pitchFamily="2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94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7000"/>
            <a:ext cx="7620000" cy="1143000"/>
          </a:xfrm>
        </p:spPr>
        <p:txBody>
          <a:bodyPr>
            <a:normAutofit fontScale="90000"/>
          </a:bodyPr>
          <a:lstStyle/>
          <a:p>
            <a:r>
              <a:rPr lang="en-US" sz="5300" dirty="0" smtClean="0">
                <a:latin typeface="Arial Rounded MT Bold" panose="020F0704030504030204" pitchFamily="34" charset="0"/>
                <a:cs typeface="Arabic Typesetting" pitchFamily="66" charset="-78"/>
              </a:rPr>
              <a:t>E X A M P L E </a:t>
            </a:r>
            <a:br>
              <a:rPr lang="en-US" sz="5300" dirty="0" smtClean="0">
                <a:latin typeface="Arial Rounded MT Bold" panose="020F0704030504030204" pitchFamily="34" charset="0"/>
                <a:cs typeface="Arabic Typesetting" pitchFamily="66" charset="-78"/>
              </a:rPr>
            </a:br>
            <a:r>
              <a:rPr lang="en-US" sz="5300" dirty="0" smtClean="0">
                <a:latin typeface="Arial Rounded MT Bold" panose="020F0704030504030204" pitchFamily="34" charset="0"/>
                <a:cs typeface="Arabic Typesetting" pitchFamily="66" charset="-78"/>
              </a:rPr>
              <a:t>T A S K</a:t>
            </a:r>
            <a:endParaRPr lang="en-US" dirty="0" smtClean="0">
              <a:latin typeface="Arial Rounded MT Bold" panose="020F0704030504030204" pitchFamily="34" charset="0"/>
              <a:cs typeface="Arabic Typesetting" pitchFamily="66" charset="-78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524000" y="4037012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524000" y="2438400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98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Example : </a:t>
            </a:r>
            <a:r>
              <a:rPr lang="en-US" sz="3600" u="sng" dirty="0" err="1" smtClean="0">
                <a:latin typeface="Segoe Print" pitchFamily="2" charset="0"/>
                <a:ea typeface="Cambria Math" pitchFamily="18" charset="0"/>
              </a:rPr>
              <a:t>EnjoySport</a:t>
            </a:r>
            <a:endParaRPr lang="en-US" sz="3200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76400"/>
            <a:ext cx="8224137" cy="2819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39000" y="1676399"/>
            <a:ext cx="1219200" cy="2085976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1737" y="1676399"/>
            <a:ext cx="6711063" cy="2085975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467600" y="1276289"/>
            <a:ext cx="73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err="1" smtClean="0">
                <a:solidFill>
                  <a:srgbClr val="C00000"/>
                </a:solidFill>
              </a:rPr>
              <a:t>kelas</a:t>
            </a:r>
            <a:endParaRPr lang="en-US" sz="2000" b="1" i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80297" y="1276289"/>
            <a:ext cx="1818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tx2"/>
                </a:solidFill>
              </a:rPr>
              <a:t>d</a:t>
            </a:r>
            <a:r>
              <a:rPr lang="en-US" sz="2000" b="1" i="1" dirty="0" smtClean="0">
                <a:solidFill>
                  <a:schemeClr val="tx2"/>
                </a:solidFill>
              </a:rPr>
              <a:t>ata </a:t>
            </a:r>
            <a:r>
              <a:rPr lang="en-US" sz="2000" b="1" i="1" dirty="0" err="1" smtClean="0">
                <a:solidFill>
                  <a:schemeClr val="tx2"/>
                </a:solidFill>
              </a:rPr>
              <a:t>masukan</a:t>
            </a:r>
            <a:endParaRPr lang="en-US" sz="2000" b="1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83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Example : </a:t>
            </a:r>
            <a:r>
              <a:rPr lang="en-US" sz="3600" u="sng" dirty="0" err="1" smtClean="0">
                <a:latin typeface="Segoe Print" pitchFamily="2" charset="0"/>
                <a:ea typeface="Cambria Math" pitchFamily="18" charset="0"/>
              </a:rPr>
              <a:t>EnjoySport</a:t>
            </a:r>
            <a:endParaRPr lang="en-US" sz="3200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66800"/>
            <a:ext cx="8775446" cy="52816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53200" y="2438400"/>
            <a:ext cx="2235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0000"/>
                </a:solidFill>
              </a:rPr>
              <a:t>3 x 2 x 2 x 2 x 2 x 2 = 96 instances</a:t>
            </a:r>
            <a:endParaRPr lang="en-US" sz="2000" b="1" i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5576888"/>
            <a:ext cx="2235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</a:rPr>
              <a:t>5</a:t>
            </a:r>
            <a:r>
              <a:rPr lang="en-US" sz="2000" b="1" i="1" dirty="0" smtClean="0">
                <a:solidFill>
                  <a:srgbClr val="FF0000"/>
                </a:solidFill>
              </a:rPr>
              <a:t> x 4 x 4 x 4 x 4 x 4 = 5120 hypothesis</a:t>
            </a:r>
            <a:endParaRPr lang="en-US" sz="2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51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Hipotesis</a:t>
            </a:r>
            <a:endParaRPr lang="en-US" sz="3200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90711"/>
            <a:ext cx="8224137" cy="2819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39000" y="1390710"/>
            <a:ext cx="1219200" cy="2085976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1737" y="1390710"/>
            <a:ext cx="6711063" cy="2085975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467600" y="990600"/>
            <a:ext cx="73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err="1" smtClean="0">
                <a:solidFill>
                  <a:srgbClr val="C00000"/>
                </a:solidFill>
              </a:rPr>
              <a:t>kelas</a:t>
            </a:r>
            <a:endParaRPr lang="en-US" sz="2000" b="1" i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80297" y="990600"/>
            <a:ext cx="1818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tx2"/>
                </a:solidFill>
              </a:rPr>
              <a:t>d</a:t>
            </a:r>
            <a:r>
              <a:rPr lang="en-US" sz="2000" b="1" i="1" dirty="0" smtClean="0">
                <a:solidFill>
                  <a:schemeClr val="tx2"/>
                </a:solidFill>
              </a:rPr>
              <a:t>ata </a:t>
            </a:r>
            <a:r>
              <a:rPr lang="en-US" sz="2000" b="1" i="1" dirty="0" err="1" smtClean="0">
                <a:solidFill>
                  <a:schemeClr val="tx2"/>
                </a:solidFill>
              </a:rPr>
              <a:t>masukan</a:t>
            </a:r>
            <a:endParaRPr lang="en-US" sz="2000" b="1" i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1736" y="4648200"/>
            <a:ext cx="7854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Aldo </a:t>
            </a:r>
            <a:r>
              <a:rPr lang="en-US" sz="2400" dirty="0" err="1" smtClean="0"/>
              <a:t>menikmati</a:t>
            </a:r>
            <a:r>
              <a:rPr lang="en-US" sz="2400" dirty="0" smtClean="0"/>
              <a:t> </a:t>
            </a:r>
            <a:r>
              <a:rPr lang="en-US" sz="2400" dirty="0" err="1" smtClean="0"/>
              <a:t>olahraga</a:t>
            </a:r>
            <a:r>
              <a:rPr lang="en-US" sz="2400" dirty="0" smtClean="0"/>
              <a:t> </a:t>
            </a:r>
            <a:r>
              <a:rPr lang="en-US" sz="2400" dirty="0" err="1" smtClean="0"/>
              <a:t>favoritnya</a:t>
            </a:r>
            <a:r>
              <a:rPr lang="en-US" sz="2400" dirty="0" smtClean="0"/>
              <a:t>, </a:t>
            </a:r>
            <a:r>
              <a:rPr lang="en-US" sz="2400" dirty="0" err="1" smtClean="0"/>
              <a:t>hanya</a:t>
            </a:r>
            <a:r>
              <a:rPr lang="en-US" sz="2400" dirty="0" smtClean="0"/>
              <a:t> di </a:t>
            </a:r>
            <a:r>
              <a:rPr lang="en-US" sz="2400" dirty="0" err="1" smtClean="0"/>
              <a:t>hari</a:t>
            </a:r>
            <a:r>
              <a:rPr lang="en-US" sz="2400" dirty="0" smtClean="0"/>
              <a:t> yang </a:t>
            </a:r>
            <a:r>
              <a:rPr lang="en-US" sz="2400" dirty="0" err="1" smtClean="0"/>
              <a:t>dingin</a:t>
            </a:r>
            <a:r>
              <a:rPr lang="en-US" sz="2400" dirty="0" smtClean="0"/>
              <a:t> (</a:t>
            </a:r>
            <a:r>
              <a:rPr lang="en-US" sz="2400" b="1" dirty="0" smtClean="0"/>
              <a:t>COLD</a:t>
            </a:r>
            <a:r>
              <a:rPr lang="en-US" sz="2400" dirty="0" smtClean="0"/>
              <a:t>) </a:t>
            </a:r>
            <a:r>
              <a:rPr lang="en-US" sz="2400" dirty="0" err="1" smtClean="0"/>
              <a:t>dengan</a:t>
            </a:r>
            <a:r>
              <a:rPr lang="en-US" sz="2400" dirty="0" smtClean="0"/>
              <a:t> </a:t>
            </a:r>
            <a:r>
              <a:rPr lang="en-US" sz="2400" dirty="0" err="1" smtClean="0"/>
              <a:t>kelembapan</a:t>
            </a:r>
            <a:r>
              <a:rPr lang="en-US" sz="2400" dirty="0" smtClean="0"/>
              <a:t> </a:t>
            </a:r>
            <a:r>
              <a:rPr lang="en-US" sz="2400" dirty="0" err="1" smtClean="0"/>
              <a:t>udara</a:t>
            </a:r>
            <a:r>
              <a:rPr lang="en-US" sz="2400" dirty="0" smtClean="0"/>
              <a:t> yang </a:t>
            </a:r>
            <a:r>
              <a:rPr lang="en-US" sz="2400" dirty="0" err="1" smtClean="0"/>
              <a:t>tinggi</a:t>
            </a:r>
            <a:r>
              <a:rPr lang="en-US" sz="2400" dirty="0" smtClean="0"/>
              <a:t> (</a:t>
            </a:r>
            <a:r>
              <a:rPr lang="en-US" sz="2400" b="1" dirty="0" smtClean="0"/>
              <a:t>HIGH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5569803"/>
            <a:ext cx="7854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2"/>
                </a:solidFill>
              </a:rPr>
              <a:t>(?, Cold, High, ?, ?, ?)</a:t>
            </a:r>
            <a:endParaRPr lang="en-US" sz="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98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Hipotesis</a:t>
            </a:r>
            <a:endParaRPr lang="en-US" sz="3200" u="sng" dirty="0">
              <a:latin typeface="Segoe Print" pitchFamily="2" charset="0"/>
              <a:ea typeface="Cambria Math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1524000"/>
            <a:ext cx="785406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/>
              <a:t>MOST GENERAL HYPOTHESIS</a:t>
            </a:r>
          </a:p>
          <a:p>
            <a:pPr algn="just"/>
            <a:r>
              <a:rPr lang="en-US" sz="2400" dirty="0" smtClean="0"/>
              <a:t>Every day is positive example</a:t>
            </a:r>
          </a:p>
          <a:p>
            <a:pPr algn="just"/>
            <a:r>
              <a:rPr lang="en-US" sz="2400" b="1" dirty="0">
                <a:solidFill>
                  <a:schemeClr val="tx2"/>
                </a:solidFill>
              </a:rPr>
              <a:t>&lt; ?, </a:t>
            </a:r>
            <a:r>
              <a:rPr lang="en-US" sz="2400" b="1" dirty="0" smtClean="0">
                <a:solidFill>
                  <a:schemeClr val="tx2"/>
                </a:solidFill>
              </a:rPr>
              <a:t>?, ?, </a:t>
            </a:r>
            <a:r>
              <a:rPr lang="en-US" sz="2400" b="1" dirty="0">
                <a:solidFill>
                  <a:schemeClr val="tx2"/>
                </a:solidFill>
              </a:rPr>
              <a:t>?, ?, ? </a:t>
            </a:r>
            <a:r>
              <a:rPr lang="en-US" sz="2400" b="1" dirty="0" smtClean="0">
                <a:solidFill>
                  <a:schemeClr val="tx2"/>
                </a:solidFill>
              </a:rPr>
              <a:t>&gt;</a:t>
            </a:r>
            <a:endParaRPr lang="en-US" sz="2400" dirty="0"/>
          </a:p>
          <a:p>
            <a:pPr algn="just"/>
            <a:endParaRPr lang="en-US" sz="2400" dirty="0" smtClean="0"/>
          </a:p>
          <a:p>
            <a:pPr algn="just"/>
            <a:endParaRPr lang="en-US" sz="2400" dirty="0"/>
          </a:p>
          <a:p>
            <a:pPr algn="just"/>
            <a:r>
              <a:rPr lang="en-US" sz="2400" b="1" dirty="0" smtClean="0"/>
              <a:t>MOST SPECIFIC HYPOTHESIS</a:t>
            </a:r>
          </a:p>
          <a:p>
            <a:pPr algn="just"/>
            <a:r>
              <a:rPr lang="en-US" sz="2400" dirty="0" smtClean="0"/>
              <a:t>No day is positive example</a:t>
            </a:r>
          </a:p>
          <a:p>
            <a:pPr algn="just"/>
            <a:r>
              <a:rPr lang="en-US" sz="2400" b="1" dirty="0">
                <a:solidFill>
                  <a:schemeClr val="tx2"/>
                </a:solidFill>
              </a:rPr>
              <a:t>&lt; </a:t>
            </a:r>
            <a:r>
              <a:rPr lang="en-US" sz="2400" b="1" dirty="0" smtClean="0">
                <a:solidFill>
                  <a:schemeClr val="tx2"/>
                </a:solidFill>
              </a:rPr>
              <a:t>Ø, </a:t>
            </a:r>
            <a:r>
              <a:rPr lang="en-US" sz="2400" b="1" dirty="0">
                <a:solidFill>
                  <a:schemeClr val="tx2"/>
                </a:solidFill>
              </a:rPr>
              <a:t>Ø</a:t>
            </a:r>
            <a:r>
              <a:rPr lang="en-US" sz="2400" b="1" dirty="0" smtClean="0">
                <a:solidFill>
                  <a:schemeClr val="tx2"/>
                </a:solidFill>
              </a:rPr>
              <a:t>, </a:t>
            </a:r>
            <a:r>
              <a:rPr lang="en-US" sz="2400" b="1" dirty="0">
                <a:solidFill>
                  <a:schemeClr val="tx2"/>
                </a:solidFill>
              </a:rPr>
              <a:t>Ø</a:t>
            </a:r>
            <a:r>
              <a:rPr lang="en-US" sz="2400" b="1" dirty="0" smtClean="0">
                <a:solidFill>
                  <a:schemeClr val="tx2"/>
                </a:solidFill>
              </a:rPr>
              <a:t>, </a:t>
            </a:r>
            <a:r>
              <a:rPr lang="en-US" sz="2400" b="1" dirty="0">
                <a:solidFill>
                  <a:schemeClr val="tx2"/>
                </a:solidFill>
              </a:rPr>
              <a:t>Ø</a:t>
            </a:r>
            <a:r>
              <a:rPr lang="en-US" sz="2400" b="1" dirty="0" smtClean="0">
                <a:solidFill>
                  <a:schemeClr val="tx2"/>
                </a:solidFill>
              </a:rPr>
              <a:t>, </a:t>
            </a:r>
            <a:r>
              <a:rPr lang="en-US" sz="2400" b="1" dirty="0">
                <a:solidFill>
                  <a:schemeClr val="tx2"/>
                </a:solidFill>
              </a:rPr>
              <a:t>Ø</a:t>
            </a:r>
            <a:r>
              <a:rPr lang="en-US" sz="2400" b="1" dirty="0" smtClean="0">
                <a:solidFill>
                  <a:schemeClr val="tx2"/>
                </a:solidFill>
              </a:rPr>
              <a:t>, </a:t>
            </a:r>
            <a:r>
              <a:rPr lang="en-US" sz="2400" b="1" dirty="0">
                <a:solidFill>
                  <a:schemeClr val="tx2"/>
                </a:solidFill>
              </a:rPr>
              <a:t>Ø</a:t>
            </a:r>
            <a:r>
              <a:rPr lang="en-US" sz="2400" b="1" dirty="0" smtClean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&gt;</a:t>
            </a:r>
          </a:p>
          <a:p>
            <a:pPr algn="just"/>
            <a:endParaRPr lang="en-US" sz="2400" dirty="0" smtClean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4369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7000"/>
            <a:ext cx="7620000" cy="1143000"/>
          </a:xfrm>
        </p:spPr>
        <p:txBody>
          <a:bodyPr>
            <a:normAutofit fontScale="90000"/>
          </a:bodyPr>
          <a:lstStyle/>
          <a:p>
            <a:r>
              <a:rPr lang="en-US" sz="5300" dirty="0" smtClean="0">
                <a:latin typeface="Arial Rounded MT Bold" panose="020F0704030504030204" pitchFamily="34" charset="0"/>
                <a:cs typeface="Arabic Typesetting" pitchFamily="66" charset="-78"/>
              </a:rPr>
              <a:t>A L G O R I T M A</a:t>
            </a:r>
            <a:br>
              <a:rPr lang="en-US" sz="5300" dirty="0" smtClean="0">
                <a:latin typeface="Arial Rounded MT Bold" panose="020F0704030504030204" pitchFamily="34" charset="0"/>
                <a:cs typeface="Arabic Typesetting" pitchFamily="66" charset="-78"/>
              </a:rPr>
            </a:br>
            <a: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  <a:t>L E A R N I N 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524000" y="4037012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524000" y="2438400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42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ALGORITMA LEARNING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1295400"/>
            <a:ext cx="78741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b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DECISION TREE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b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K NEAREST NEIGHBOUR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b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NEURAL NETWORK</a:t>
            </a:r>
            <a:endParaRPr lang="en-US" sz="2400" dirty="0">
              <a:latin typeface="+mj-lt"/>
              <a:ea typeface="Cambria Math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b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SVM </a:t>
            </a:r>
            <a:r>
              <a:rPr lang="en-US" sz="2400" b="1" i="1" dirty="0" smtClean="0">
                <a:latin typeface="+mj-lt"/>
                <a:ea typeface="Cambria Math" pitchFamily="18" charset="0"/>
                <a:cs typeface="Arial" panose="020B0604020202020204" pitchFamily="34" charset="0"/>
              </a:rPr>
              <a:t>(SUPPORT VECTOR MACHINE)</a:t>
            </a:r>
          </a:p>
        </p:txBody>
      </p:sp>
    </p:spTree>
    <p:extLst>
      <p:ext uri="{BB962C8B-B14F-4D97-AF65-F5344CB8AC3E}">
        <p14:creationId xmlns:p14="http://schemas.microsoft.com/office/powerpoint/2010/main" val="104916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DECISION TREE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143000"/>
            <a:ext cx="8867775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6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NEAREST NEIGHBOUR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" y="1176337"/>
            <a:ext cx="850582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430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NEURAL NETWORK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2" y="1566862"/>
            <a:ext cx="848677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06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SVM (Support Vector Machine)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962025"/>
            <a:ext cx="818197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8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SVM (Support Vector Machine)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66800"/>
            <a:ext cx="7053262" cy="530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93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7000"/>
            <a:ext cx="7620000" cy="1143000"/>
          </a:xfrm>
        </p:spPr>
        <p:txBody>
          <a:bodyPr>
            <a:normAutofit fontScale="90000"/>
          </a:bodyPr>
          <a:lstStyle/>
          <a:p>
            <a:r>
              <a:rPr lang="en-US" sz="5300" dirty="0" smtClean="0">
                <a:latin typeface="Arial Rounded MT Bold" panose="020F0704030504030204" pitchFamily="34" charset="0"/>
                <a:cs typeface="Arabic Typesetting" pitchFamily="66" charset="-78"/>
              </a:rPr>
              <a:t>K A S U S</a:t>
            </a:r>
            <a:br>
              <a:rPr lang="en-US" sz="5300" dirty="0" smtClean="0">
                <a:latin typeface="Arial Rounded MT Bold" panose="020F0704030504030204" pitchFamily="34" charset="0"/>
                <a:cs typeface="Arabic Typesetting" pitchFamily="66" charset="-78"/>
              </a:rPr>
            </a:br>
            <a: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  <a:t>L E A R N I N 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524000" y="4037012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524000" y="2438400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878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10812" y="165272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Klasifikasi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</a:t>
            </a:r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Laporan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TA</a:t>
            </a:r>
            <a:endParaRPr lang="en-US" sz="3200" u="sng" dirty="0">
              <a:latin typeface="Segoe Print" pitchFamily="2" charset="0"/>
              <a:ea typeface="Cambria Math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924800" y="142101"/>
            <a:ext cx="104277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 smtClean="0"/>
              <a:t>TEKS</a:t>
            </a:r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1133413" y="2824534"/>
            <a:ext cx="636533" cy="706682"/>
            <a:chOff x="533400" y="1219200"/>
            <a:chExt cx="1219200" cy="1371600"/>
          </a:xfrm>
        </p:grpSpPr>
        <p:sp>
          <p:nvSpPr>
            <p:cNvPr id="4" name="Rectangle 3"/>
            <p:cNvSpPr/>
            <p:nvPr/>
          </p:nvSpPr>
          <p:spPr>
            <a:xfrm>
              <a:off x="533400" y="1219200"/>
              <a:ext cx="1219200" cy="1371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685800" y="1447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685800" y="1600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685800" y="17526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85800" y="19050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85800" y="20574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85800" y="2209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85800" y="2362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1136729" y="4026538"/>
            <a:ext cx="636533" cy="706682"/>
            <a:chOff x="533400" y="1219200"/>
            <a:chExt cx="1219200" cy="1371600"/>
          </a:xfrm>
        </p:grpSpPr>
        <p:sp>
          <p:nvSpPr>
            <p:cNvPr id="16" name="Rectangle 15"/>
            <p:cNvSpPr/>
            <p:nvPr/>
          </p:nvSpPr>
          <p:spPr>
            <a:xfrm>
              <a:off x="533400" y="1219200"/>
              <a:ext cx="1219200" cy="1371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685800" y="1447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5800" y="1600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85800" y="17526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685800" y="19050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685800" y="20574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685800" y="2209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685800" y="2362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156620" y="5195277"/>
            <a:ext cx="636533" cy="706682"/>
            <a:chOff x="533400" y="1219200"/>
            <a:chExt cx="1219200" cy="1371600"/>
          </a:xfrm>
        </p:grpSpPr>
        <p:sp>
          <p:nvSpPr>
            <p:cNvPr id="25" name="Rectangle 24"/>
            <p:cNvSpPr/>
            <p:nvPr/>
          </p:nvSpPr>
          <p:spPr>
            <a:xfrm>
              <a:off x="533400" y="1219200"/>
              <a:ext cx="1219200" cy="1371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685800" y="1447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685800" y="1600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685800" y="17526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685800" y="19050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685800" y="20574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85800" y="2209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85800" y="2362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Rectangle 32"/>
          <p:cNvSpPr/>
          <p:nvPr/>
        </p:nvSpPr>
        <p:spPr>
          <a:xfrm>
            <a:off x="3005827" y="4222839"/>
            <a:ext cx="1613850" cy="77792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TESTING</a:t>
            </a:r>
            <a:endParaRPr lang="en-US" sz="28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1001140" y="3559031"/>
            <a:ext cx="1129915" cy="290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 err="1" smtClean="0"/>
              <a:t>Abstrak</a:t>
            </a:r>
            <a:r>
              <a:rPr lang="en-US" sz="1600" b="1" i="1" dirty="0" smtClean="0"/>
              <a:t> 11</a:t>
            </a:r>
            <a:endParaRPr lang="en-US" sz="1600" b="1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1001141" y="4742666"/>
            <a:ext cx="1129914" cy="290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 err="1" smtClean="0"/>
              <a:t>Abstrak</a:t>
            </a:r>
            <a:r>
              <a:rPr lang="en-US" sz="1600" b="1" i="1" dirty="0" smtClean="0"/>
              <a:t> 12</a:t>
            </a:r>
            <a:endParaRPr lang="en-US" sz="1600" b="1" i="1" dirty="0"/>
          </a:p>
        </p:txBody>
      </p:sp>
      <p:sp>
        <p:nvSpPr>
          <p:cNvPr id="63" name="TextBox 62"/>
          <p:cNvSpPr txBox="1"/>
          <p:nvPr/>
        </p:nvSpPr>
        <p:spPr>
          <a:xfrm>
            <a:off x="990599" y="5957590"/>
            <a:ext cx="1140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 err="1" smtClean="0"/>
              <a:t>Abstrak</a:t>
            </a:r>
            <a:r>
              <a:rPr lang="en-US" sz="1600" b="1" i="1" dirty="0" smtClean="0"/>
              <a:t> 13</a:t>
            </a:r>
            <a:endParaRPr lang="en-US" sz="1600" b="1" i="1" dirty="0"/>
          </a:p>
        </p:txBody>
      </p:sp>
      <p:sp>
        <p:nvSpPr>
          <p:cNvPr id="94" name="TextBox 93"/>
          <p:cNvSpPr txBox="1"/>
          <p:nvPr/>
        </p:nvSpPr>
        <p:spPr>
          <a:xfrm>
            <a:off x="6525753" y="2900582"/>
            <a:ext cx="1399047" cy="555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/>
              <a:t>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65484" y="4123139"/>
            <a:ext cx="1399047" cy="555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/>
              <a:t>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753" y="5292761"/>
            <a:ext cx="1399047" cy="555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 smtClean="0"/>
              <a:t>A</a:t>
            </a:r>
            <a:endParaRPr lang="en-US" sz="3600" b="1" i="1" dirty="0"/>
          </a:p>
        </p:txBody>
      </p:sp>
      <p:cxnSp>
        <p:nvCxnSpPr>
          <p:cNvPr id="98" name="Straight Connector 97"/>
          <p:cNvCxnSpPr>
            <a:stCxn id="4" idx="3"/>
          </p:cNvCxnSpPr>
          <p:nvPr/>
        </p:nvCxnSpPr>
        <p:spPr>
          <a:xfrm>
            <a:off x="1769946" y="3177875"/>
            <a:ext cx="1089527" cy="1143524"/>
          </a:xfrm>
          <a:prstGeom prst="line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16" idx="3"/>
          </p:cNvCxnSpPr>
          <p:nvPr/>
        </p:nvCxnSpPr>
        <p:spPr>
          <a:xfrm>
            <a:off x="1773262" y="4379879"/>
            <a:ext cx="1086211" cy="231923"/>
          </a:xfrm>
          <a:prstGeom prst="line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25" idx="3"/>
          </p:cNvCxnSpPr>
          <p:nvPr/>
        </p:nvCxnSpPr>
        <p:spPr>
          <a:xfrm flipV="1">
            <a:off x="1793153" y="4888070"/>
            <a:ext cx="1072791" cy="660548"/>
          </a:xfrm>
          <a:prstGeom prst="line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 flipV="1">
            <a:off x="4716208" y="3413437"/>
            <a:ext cx="1071332" cy="931963"/>
          </a:xfrm>
          <a:prstGeom prst="line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4746392" y="4345400"/>
            <a:ext cx="1161475" cy="266402"/>
          </a:xfrm>
          <a:prstGeom prst="line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4716208" y="4888070"/>
            <a:ext cx="1122167" cy="424987"/>
          </a:xfrm>
          <a:prstGeom prst="line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4" name="Group 133"/>
          <p:cNvGrpSpPr/>
          <p:nvPr/>
        </p:nvGrpSpPr>
        <p:grpSpPr>
          <a:xfrm>
            <a:off x="6147217" y="2824534"/>
            <a:ext cx="636533" cy="706682"/>
            <a:chOff x="533400" y="1219200"/>
            <a:chExt cx="1219200" cy="1371600"/>
          </a:xfrm>
        </p:grpSpPr>
        <p:sp>
          <p:nvSpPr>
            <p:cNvPr id="135" name="Rectangle 134"/>
            <p:cNvSpPr/>
            <p:nvPr/>
          </p:nvSpPr>
          <p:spPr>
            <a:xfrm>
              <a:off x="533400" y="1219200"/>
              <a:ext cx="1219200" cy="1371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36" name="Straight Connector 135"/>
            <p:cNvCxnSpPr/>
            <p:nvPr/>
          </p:nvCxnSpPr>
          <p:spPr>
            <a:xfrm>
              <a:off x="685800" y="1447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>
              <a:off x="685800" y="1600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>
              <a:off x="685800" y="17526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>
              <a:off x="685800" y="19050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>
              <a:off x="685800" y="20574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>
              <a:off x="685800" y="2209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685800" y="2362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6150532" y="4026538"/>
            <a:ext cx="636533" cy="706682"/>
            <a:chOff x="533400" y="1219200"/>
            <a:chExt cx="1219200" cy="1371600"/>
          </a:xfrm>
        </p:grpSpPr>
        <p:sp>
          <p:nvSpPr>
            <p:cNvPr id="144" name="Rectangle 143"/>
            <p:cNvSpPr/>
            <p:nvPr/>
          </p:nvSpPr>
          <p:spPr>
            <a:xfrm>
              <a:off x="533400" y="1219200"/>
              <a:ext cx="1219200" cy="1371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45" name="Straight Connector 144"/>
            <p:cNvCxnSpPr/>
            <p:nvPr/>
          </p:nvCxnSpPr>
          <p:spPr>
            <a:xfrm>
              <a:off x="685800" y="1447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>
              <a:off x="685800" y="1600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685800" y="17526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685800" y="19050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685800" y="20574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685800" y="2209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685800" y="2362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2" name="Group 151"/>
          <p:cNvGrpSpPr/>
          <p:nvPr/>
        </p:nvGrpSpPr>
        <p:grpSpPr>
          <a:xfrm>
            <a:off x="6170424" y="5195277"/>
            <a:ext cx="636533" cy="706682"/>
            <a:chOff x="533400" y="1219200"/>
            <a:chExt cx="1219200" cy="1371600"/>
          </a:xfrm>
        </p:grpSpPr>
        <p:sp>
          <p:nvSpPr>
            <p:cNvPr id="153" name="Rectangle 152"/>
            <p:cNvSpPr/>
            <p:nvPr/>
          </p:nvSpPr>
          <p:spPr>
            <a:xfrm>
              <a:off x="533400" y="1219200"/>
              <a:ext cx="1219200" cy="1371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54" name="Straight Connector 153"/>
            <p:cNvCxnSpPr/>
            <p:nvPr/>
          </p:nvCxnSpPr>
          <p:spPr>
            <a:xfrm>
              <a:off x="685800" y="1447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>
              <a:off x="685800" y="1600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685800" y="17526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>
              <a:off x="685800" y="19050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>
              <a:off x="685800" y="20574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685800" y="2209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>
              <a:off x="685800" y="2362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1" name="TextBox 160"/>
          <p:cNvSpPr txBox="1"/>
          <p:nvPr/>
        </p:nvSpPr>
        <p:spPr>
          <a:xfrm>
            <a:off x="6014944" y="3559031"/>
            <a:ext cx="1281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 err="1" smtClean="0"/>
              <a:t>Abstrak</a:t>
            </a:r>
            <a:r>
              <a:rPr lang="en-US" sz="1600" b="1" i="1" dirty="0" smtClean="0"/>
              <a:t> 11</a:t>
            </a:r>
            <a:endParaRPr lang="en-US" sz="1600" b="1" i="1" dirty="0"/>
          </a:p>
        </p:txBody>
      </p:sp>
      <p:sp>
        <p:nvSpPr>
          <p:cNvPr id="162" name="TextBox 161"/>
          <p:cNvSpPr txBox="1"/>
          <p:nvPr/>
        </p:nvSpPr>
        <p:spPr>
          <a:xfrm>
            <a:off x="6014945" y="4742666"/>
            <a:ext cx="1224102" cy="290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 err="1" smtClean="0"/>
              <a:t>Abstrak</a:t>
            </a:r>
            <a:r>
              <a:rPr lang="en-US" sz="1600" b="1" i="1" dirty="0" smtClean="0"/>
              <a:t> 12</a:t>
            </a:r>
            <a:endParaRPr lang="en-US" sz="1600" b="1" i="1" dirty="0"/>
          </a:p>
        </p:txBody>
      </p:sp>
      <p:sp>
        <p:nvSpPr>
          <p:cNvPr id="163" name="TextBox 162"/>
          <p:cNvSpPr txBox="1"/>
          <p:nvPr/>
        </p:nvSpPr>
        <p:spPr>
          <a:xfrm>
            <a:off x="6004405" y="5957590"/>
            <a:ext cx="1093190" cy="290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 err="1" smtClean="0"/>
              <a:t>Abstrak</a:t>
            </a:r>
            <a:r>
              <a:rPr lang="en-US" sz="1600" b="1" i="1" dirty="0" smtClean="0"/>
              <a:t> 13</a:t>
            </a:r>
            <a:endParaRPr lang="en-US" sz="1600" b="1" i="1" dirty="0"/>
          </a:p>
        </p:txBody>
      </p:sp>
      <p:sp>
        <p:nvSpPr>
          <p:cNvPr id="169" name="TextBox 168"/>
          <p:cNvSpPr txBox="1"/>
          <p:nvPr/>
        </p:nvSpPr>
        <p:spPr>
          <a:xfrm>
            <a:off x="2045116" y="1931799"/>
            <a:ext cx="565807" cy="555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/>
              <a:t>A</a:t>
            </a:r>
          </a:p>
        </p:txBody>
      </p:sp>
      <p:grpSp>
        <p:nvGrpSpPr>
          <p:cNvPr id="170" name="Group 169"/>
          <p:cNvGrpSpPr/>
          <p:nvPr/>
        </p:nvGrpSpPr>
        <p:grpSpPr>
          <a:xfrm>
            <a:off x="2029645" y="998525"/>
            <a:ext cx="636533" cy="706682"/>
            <a:chOff x="533400" y="1219200"/>
            <a:chExt cx="1219200" cy="1371600"/>
          </a:xfrm>
        </p:grpSpPr>
        <p:sp>
          <p:nvSpPr>
            <p:cNvPr id="171" name="Rectangle 170"/>
            <p:cNvSpPr/>
            <p:nvPr/>
          </p:nvSpPr>
          <p:spPr>
            <a:xfrm>
              <a:off x="533400" y="1219200"/>
              <a:ext cx="1219200" cy="1371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72" name="Straight Connector 171"/>
            <p:cNvCxnSpPr/>
            <p:nvPr/>
          </p:nvCxnSpPr>
          <p:spPr>
            <a:xfrm>
              <a:off x="685800" y="1447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>
              <a:off x="685800" y="1600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>
              <a:off x="685800" y="17526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>
              <a:off x="685800" y="19050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>
            <a:xfrm>
              <a:off x="685800" y="20574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685800" y="2209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>
              <a:off x="685800" y="2362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9" name="TextBox 178"/>
          <p:cNvSpPr txBox="1"/>
          <p:nvPr/>
        </p:nvSpPr>
        <p:spPr>
          <a:xfrm>
            <a:off x="1897373" y="1733023"/>
            <a:ext cx="1035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 err="1" smtClean="0"/>
              <a:t>Abstrak</a:t>
            </a:r>
            <a:r>
              <a:rPr lang="en-US" sz="1600" b="1" i="1" dirty="0" smtClean="0"/>
              <a:t> 1</a:t>
            </a:r>
            <a:endParaRPr lang="en-US" sz="1600" b="1" i="1" dirty="0"/>
          </a:p>
        </p:txBody>
      </p:sp>
      <p:sp>
        <p:nvSpPr>
          <p:cNvPr id="180" name="TextBox 179"/>
          <p:cNvSpPr txBox="1"/>
          <p:nvPr/>
        </p:nvSpPr>
        <p:spPr>
          <a:xfrm>
            <a:off x="2988314" y="1931799"/>
            <a:ext cx="565807" cy="555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/>
              <a:t>A</a:t>
            </a:r>
          </a:p>
        </p:txBody>
      </p:sp>
      <p:grpSp>
        <p:nvGrpSpPr>
          <p:cNvPr id="181" name="Group 180"/>
          <p:cNvGrpSpPr/>
          <p:nvPr/>
        </p:nvGrpSpPr>
        <p:grpSpPr>
          <a:xfrm>
            <a:off x="2972842" y="998525"/>
            <a:ext cx="636533" cy="706682"/>
            <a:chOff x="533400" y="1219200"/>
            <a:chExt cx="1219200" cy="1371600"/>
          </a:xfrm>
        </p:grpSpPr>
        <p:sp>
          <p:nvSpPr>
            <p:cNvPr id="182" name="Rectangle 181"/>
            <p:cNvSpPr/>
            <p:nvPr/>
          </p:nvSpPr>
          <p:spPr>
            <a:xfrm>
              <a:off x="533400" y="1219200"/>
              <a:ext cx="1219200" cy="1371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83" name="Straight Connector 182"/>
            <p:cNvCxnSpPr/>
            <p:nvPr/>
          </p:nvCxnSpPr>
          <p:spPr>
            <a:xfrm>
              <a:off x="685800" y="1447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>
              <a:off x="685800" y="1600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685800" y="17526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685800" y="19050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685800" y="20574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>
              <a:off x="685800" y="2209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685800" y="2362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0" name="TextBox 189"/>
          <p:cNvSpPr txBox="1"/>
          <p:nvPr/>
        </p:nvSpPr>
        <p:spPr>
          <a:xfrm>
            <a:off x="2840569" y="1733023"/>
            <a:ext cx="1039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 err="1" smtClean="0"/>
              <a:t>Abstrak</a:t>
            </a:r>
            <a:r>
              <a:rPr lang="en-US" sz="1600" b="1" i="1" dirty="0" smtClean="0"/>
              <a:t> 2</a:t>
            </a:r>
            <a:endParaRPr lang="en-US" sz="1600" b="1" i="1" dirty="0"/>
          </a:p>
        </p:txBody>
      </p:sp>
      <p:sp>
        <p:nvSpPr>
          <p:cNvPr id="191" name="TextBox 190"/>
          <p:cNvSpPr txBox="1"/>
          <p:nvPr/>
        </p:nvSpPr>
        <p:spPr>
          <a:xfrm>
            <a:off x="3895381" y="1923874"/>
            <a:ext cx="565807" cy="555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 smtClean="0"/>
              <a:t>B</a:t>
            </a:r>
            <a:endParaRPr lang="en-US" sz="3600" b="1" i="1" dirty="0"/>
          </a:p>
        </p:txBody>
      </p:sp>
      <p:grpSp>
        <p:nvGrpSpPr>
          <p:cNvPr id="192" name="Group 191"/>
          <p:cNvGrpSpPr/>
          <p:nvPr/>
        </p:nvGrpSpPr>
        <p:grpSpPr>
          <a:xfrm>
            <a:off x="3879909" y="990600"/>
            <a:ext cx="636533" cy="706682"/>
            <a:chOff x="533400" y="1219200"/>
            <a:chExt cx="1219200" cy="1371600"/>
          </a:xfrm>
        </p:grpSpPr>
        <p:sp>
          <p:nvSpPr>
            <p:cNvPr id="193" name="Rectangle 192"/>
            <p:cNvSpPr/>
            <p:nvPr/>
          </p:nvSpPr>
          <p:spPr>
            <a:xfrm>
              <a:off x="533400" y="1219200"/>
              <a:ext cx="1219200" cy="1371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94" name="Straight Connector 193"/>
            <p:cNvCxnSpPr/>
            <p:nvPr/>
          </p:nvCxnSpPr>
          <p:spPr>
            <a:xfrm>
              <a:off x="685800" y="1447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685800" y="1600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/>
          </p:nvCxnSpPr>
          <p:spPr>
            <a:xfrm>
              <a:off x="685800" y="17526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685800" y="19050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/>
          </p:nvCxnSpPr>
          <p:spPr>
            <a:xfrm>
              <a:off x="685800" y="20574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685800" y="2209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/>
          </p:nvCxnSpPr>
          <p:spPr>
            <a:xfrm>
              <a:off x="685800" y="2362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1" name="TextBox 200"/>
          <p:cNvSpPr txBox="1"/>
          <p:nvPr/>
        </p:nvSpPr>
        <p:spPr>
          <a:xfrm>
            <a:off x="3769653" y="1733834"/>
            <a:ext cx="10534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 err="1" smtClean="0"/>
              <a:t>Abstrak</a:t>
            </a:r>
            <a:r>
              <a:rPr lang="en-US" sz="1600" b="1" i="1" dirty="0" smtClean="0"/>
              <a:t> 3</a:t>
            </a:r>
            <a:endParaRPr lang="en-US" sz="1600" b="1" i="1" dirty="0"/>
          </a:p>
        </p:txBody>
      </p:sp>
      <p:sp>
        <p:nvSpPr>
          <p:cNvPr id="202" name="TextBox 201"/>
          <p:cNvSpPr txBox="1"/>
          <p:nvPr/>
        </p:nvSpPr>
        <p:spPr>
          <a:xfrm>
            <a:off x="5321788" y="1923874"/>
            <a:ext cx="565807" cy="555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 smtClean="0"/>
              <a:t>B</a:t>
            </a:r>
            <a:endParaRPr lang="en-US" sz="3600" b="1" i="1" dirty="0"/>
          </a:p>
        </p:txBody>
      </p:sp>
      <p:grpSp>
        <p:nvGrpSpPr>
          <p:cNvPr id="203" name="Group 202"/>
          <p:cNvGrpSpPr/>
          <p:nvPr/>
        </p:nvGrpSpPr>
        <p:grpSpPr>
          <a:xfrm>
            <a:off x="5306317" y="990600"/>
            <a:ext cx="636533" cy="706682"/>
            <a:chOff x="533400" y="1219200"/>
            <a:chExt cx="1219200" cy="1371600"/>
          </a:xfrm>
        </p:grpSpPr>
        <p:sp>
          <p:nvSpPr>
            <p:cNvPr id="204" name="Rectangle 203"/>
            <p:cNvSpPr/>
            <p:nvPr/>
          </p:nvSpPr>
          <p:spPr>
            <a:xfrm>
              <a:off x="533400" y="1219200"/>
              <a:ext cx="1219200" cy="1371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205" name="Straight Connector 204"/>
            <p:cNvCxnSpPr/>
            <p:nvPr/>
          </p:nvCxnSpPr>
          <p:spPr>
            <a:xfrm>
              <a:off x="685800" y="1447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/>
          </p:nvCxnSpPr>
          <p:spPr>
            <a:xfrm>
              <a:off x="685800" y="1600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/>
          </p:nvCxnSpPr>
          <p:spPr>
            <a:xfrm>
              <a:off x="685800" y="17526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685800" y="19050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>
              <a:off x="685800" y="20574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>
              <a:off x="685800" y="22098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>
              <a:off x="685800" y="2362200"/>
              <a:ext cx="8382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2" name="TextBox 211"/>
          <p:cNvSpPr txBox="1"/>
          <p:nvPr/>
        </p:nvSpPr>
        <p:spPr>
          <a:xfrm>
            <a:off x="5174044" y="1725097"/>
            <a:ext cx="1118025" cy="290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 err="1" smtClean="0"/>
              <a:t>Abstrak</a:t>
            </a:r>
            <a:r>
              <a:rPr lang="en-US" sz="1600" b="1" i="1" dirty="0" smtClean="0"/>
              <a:t> 10</a:t>
            </a:r>
            <a:endParaRPr lang="en-US" sz="1600" b="1" i="1" dirty="0"/>
          </a:p>
        </p:txBody>
      </p:sp>
      <p:sp>
        <p:nvSpPr>
          <p:cNvPr id="213" name="TextBox 212"/>
          <p:cNvSpPr txBox="1"/>
          <p:nvPr/>
        </p:nvSpPr>
        <p:spPr>
          <a:xfrm>
            <a:off x="4476660" y="1152093"/>
            <a:ext cx="946555" cy="396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smtClean="0"/>
              <a:t>…</a:t>
            </a:r>
            <a:endParaRPr lang="en-US" sz="2400" b="1" i="1" dirty="0"/>
          </a:p>
        </p:txBody>
      </p:sp>
      <p:sp>
        <p:nvSpPr>
          <p:cNvPr id="214" name="Rectangle 213"/>
          <p:cNvSpPr/>
          <p:nvPr/>
        </p:nvSpPr>
        <p:spPr>
          <a:xfrm>
            <a:off x="3044714" y="2899874"/>
            <a:ext cx="1612208" cy="77792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TRAINING</a:t>
            </a:r>
            <a:endParaRPr lang="en-US" sz="2400" b="1" dirty="0"/>
          </a:p>
        </p:txBody>
      </p:sp>
      <p:cxnSp>
        <p:nvCxnSpPr>
          <p:cNvPr id="215" name="Straight Connector 214"/>
          <p:cNvCxnSpPr/>
          <p:nvPr/>
        </p:nvCxnSpPr>
        <p:spPr>
          <a:xfrm>
            <a:off x="3769653" y="2505910"/>
            <a:ext cx="6378" cy="318624"/>
          </a:xfrm>
          <a:prstGeom prst="line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Straight Connector 217"/>
          <p:cNvCxnSpPr/>
          <p:nvPr/>
        </p:nvCxnSpPr>
        <p:spPr>
          <a:xfrm>
            <a:off x="3762769" y="3804516"/>
            <a:ext cx="6378" cy="318624"/>
          </a:xfrm>
          <a:prstGeom prst="line">
            <a:avLst/>
          </a:prstGeom>
          <a:ln w="571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6539470" y="1472018"/>
            <a:ext cx="152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Data </a:t>
            </a:r>
            <a:r>
              <a:rPr lang="en-US" b="1" dirty="0" err="1" smtClean="0">
                <a:solidFill>
                  <a:srgbClr val="FF0000"/>
                </a:solidFill>
              </a:rPr>
              <a:t>Latih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28" name="Rectangle 227"/>
          <p:cNvSpPr/>
          <p:nvPr/>
        </p:nvSpPr>
        <p:spPr>
          <a:xfrm>
            <a:off x="1648410" y="797182"/>
            <a:ext cx="4816232" cy="1689799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/>
          <p:cNvSpPr/>
          <p:nvPr/>
        </p:nvSpPr>
        <p:spPr>
          <a:xfrm>
            <a:off x="807509" y="2542259"/>
            <a:ext cx="1320753" cy="3858541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TextBox 229"/>
          <p:cNvSpPr txBox="1"/>
          <p:nvPr/>
        </p:nvSpPr>
        <p:spPr>
          <a:xfrm>
            <a:off x="2241954" y="5588258"/>
            <a:ext cx="152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Data </a:t>
            </a:r>
            <a:r>
              <a:rPr lang="en-US" b="1" dirty="0" err="1" smtClean="0">
                <a:solidFill>
                  <a:srgbClr val="FF0000"/>
                </a:solidFill>
              </a:rPr>
              <a:t>Uji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1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61" grpId="0"/>
      <p:bldP spid="62" grpId="0"/>
      <p:bldP spid="63" grpId="0"/>
      <p:bldP spid="94" grpId="0"/>
      <p:bldP spid="95" grpId="0"/>
      <p:bldP spid="96" grpId="0"/>
      <p:bldP spid="161" grpId="0"/>
      <p:bldP spid="162" grpId="0"/>
      <p:bldP spid="163" grpId="0"/>
      <p:bldP spid="214" grpId="0" animBg="1"/>
      <p:bldP spid="227" grpId="0"/>
      <p:bldP spid="228" grpId="0" animBg="1"/>
      <p:bldP spid="229" grpId="0" animBg="1"/>
      <p:bldP spid="2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Pengenalan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</a:t>
            </a:r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Tulisan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</a:t>
            </a:r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Tangan</a:t>
            </a:r>
            <a:endParaRPr lang="en-US" sz="3200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676400"/>
            <a:ext cx="8585055" cy="28717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96200" y="142101"/>
            <a:ext cx="127137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 smtClean="0"/>
              <a:t>GAMBAR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455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828800"/>
            <a:ext cx="5181600" cy="1676400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>
              <a:buNone/>
            </a:pPr>
            <a:endParaRPr lang="en-US" b="1" dirty="0" smtClean="0"/>
          </a:p>
          <a:p>
            <a:pPr algn="ctr">
              <a:buNone/>
            </a:pPr>
            <a:r>
              <a:rPr lang="en-US" sz="36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Ada </a:t>
            </a:r>
            <a:r>
              <a:rPr lang="en-US" sz="3600" b="1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Pertanyaan</a:t>
            </a:r>
            <a:r>
              <a:rPr lang="en-US" sz="36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???</a:t>
            </a:r>
            <a:endParaRPr lang="en-US" sz="3600" b="1" dirty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2650" y="0"/>
            <a:ext cx="45720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Connector 5"/>
          <p:cNvCxnSpPr/>
          <p:nvPr/>
        </p:nvCxnSpPr>
        <p:spPr>
          <a:xfrm>
            <a:off x="1771650" y="40386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771650" y="41148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D:\Desktop\tndtanya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95650" y="4648200"/>
            <a:ext cx="2609850" cy="1752600"/>
          </a:xfrm>
          <a:prstGeom prst="rect">
            <a:avLst/>
          </a:prstGeom>
          <a:noFill/>
        </p:spPr>
      </p:pic>
      <p:pic>
        <p:nvPicPr>
          <p:cNvPr id="1027" name="Picture 3" descr="D:\Desktop\tndtanya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0250" y="4876800"/>
            <a:ext cx="1885950" cy="1247775"/>
          </a:xfrm>
          <a:prstGeom prst="rect">
            <a:avLst/>
          </a:prstGeom>
          <a:noFill/>
        </p:spPr>
      </p:pic>
      <p:pic>
        <p:nvPicPr>
          <p:cNvPr id="1028" name="Picture 4" descr="D:\Desktop\tndtanya2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62050" y="4572000"/>
            <a:ext cx="2457450" cy="18573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10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7620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latin typeface="Segoe Print" pitchFamily="2" charset="0"/>
                <a:ea typeface="Cambria Math" pitchFamily="18" charset="0"/>
              </a:rPr>
              <a:t>REFERENSI . . .</a:t>
            </a:r>
            <a:endParaRPr lang="en-US" sz="3600" b="1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Straight Connector 13"/>
          <p:cNvCxnSpPr/>
          <p:nvPr/>
        </p:nvCxnSpPr>
        <p:spPr>
          <a:xfrm>
            <a:off x="1143000" y="1524000"/>
            <a:ext cx="74676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143000" y="2286000"/>
            <a:ext cx="7095460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Russell, S., </a:t>
            </a:r>
            <a:r>
              <a:rPr lang="en-US" sz="2400" dirty="0" err="1"/>
              <a:t>Norvig</a:t>
            </a:r>
            <a:r>
              <a:rPr lang="en-US" sz="2400" dirty="0"/>
              <a:t>, P. </a:t>
            </a:r>
            <a:r>
              <a:rPr lang="en-US" sz="2400" b="1" i="1" dirty="0"/>
              <a:t>Artificial Intelligence A Modern Approach</a:t>
            </a:r>
            <a:r>
              <a:rPr lang="en-US" sz="2400" i="1" dirty="0"/>
              <a:t> (Third Edition)</a:t>
            </a:r>
            <a:r>
              <a:rPr lang="en-US" sz="2400" dirty="0"/>
              <a:t>. 2010. Pearson Education, USA.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4191000"/>
            <a:ext cx="7095460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 smtClean="0"/>
              <a:t>Mitchell, T. M., </a:t>
            </a:r>
            <a:r>
              <a:rPr lang="en-US" sz="2400" b="1" i="1" dirty="0" smtClean="0"/>
              <a:t>Machine Learning</a:t>
            </a:r>
            <a:r>
              <a:rPr lang="en-US" sz="2400" dirty="0" smtClean="0"/>
              <a:t>. 1997. The McGraw-Hill </a:t>
            </a:r>
            <a:r>
              <a:rPr lang="en-US" sz="2400" dirty="0" err="1" smtClean="0"/>
              <a:t>Companies,Inc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Arabic Typesetting" pitchFamily="66" charset="-78"/>
                <a:cs typeface="Arabic Typesetting" pitchFamily="66" charset="-78"/>
              </a:rPr>
              <a:t>TUGAS PERORANGAN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752600" y="7620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752600" y="838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457200" y="1143000"/>
            <a:ext cx="4643628" cy="55748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>
                <a:ea typeface="Kozuka Gothic Pro H" pitchFamily="34" charset="-128"/>
              </a:rPr>
              <a:t>1. </a:t>
            </a:r>
            <a:r>
              <a:rPr lang="en-US" sz="2400" dirty="0" err="1" smtClean="0">
                <a:ea typeface="Kozuka Gothic Pro H" pitchFamily="34" charset="-128"/>
              </a:rPr>
              <a:t>Carilah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Jurnal</a:t>
            </a:r>
            <a:r>
              <a:rPr lang="en-US" sz="2400" dirty="0" smtClean="0">
                <a:ea typeface="Kozuka Gothic Pro H" pitchFamily="34" charset="-128"/>
              </a:rPr>
              <a:t>/Paper :</a:t>
            </a:r>
          </a:p>
          <a:p>
            <a:pPr marL="685800">
              <a:buFontTx/>
              <a:buChar char="-"/>
            </a:pPr>
            <a:r>
              <a:rPr lang="en-US" sz="2400" b="1" dirty="0" smtClean="0">
                <a:ea typeface="Kozuka Gothic Pro H" pitchFamily="34" charset="-128"/>
              </a:rPr>
              <a:t>5 </a:t>
            </a:r>
            <a:r>
              <a:rPr lang="en-US" sz="2400" b="1" i="1" dirty="0" smtClean="0">
                <a:ea typeface="Kozuka Gothic Pro H" pitchFamily="34" charset="-128"/>
              </a:rPr>
              <a:t>(lima)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untuk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b="1" dirty="0" smtClean="0">
                <a:ea typeface="Kozuka Gothic Pro H" pitchFamily="34" charset="-128"/>
              </a:rPr>
              <a:t>AI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b="1" i="1" dirty="0" smtClean="0">
                <a:ea typeface="Kozuka Gothic Pro H" pitchFamily="34" charset="-128"/>
              </a:rPr>
              <a:t>learning </a:t>
            </a:r>
          </a:p>
          <a:p>
            <a:pPr marL="685800">
              <a:buFontTx/>
              <a:buChar char="-"/>
            </a:pPr>
            <a:r>
              <a:rPr lang="en-US" sz="2400" b="1" dirty="0">
                <a:ea typeface="Kozuka Gothic Pro H" pitchFamily="34" charset="-128"/>
              </a:rPr>
              <a:t>5 </a:t>
            </a:r>
            <a:r>
              <a:rPr lang="en-US" sz="2400" b="1" i="1" dirty="0">
                <a:ea typeface="Kozuka Gothic Pro H" pitchFamily="34" charset="-128"/>
              </a:rPr>
              <a:t>(lima)</a:t>
            </a:r>
            <a:r>
              <a:rPr lang="en-US" sz="2400" dirty="0">
                <a:ea typeface="Kozuka Gothic Pro H" pitchFamily="34" charset="-128"/>
              </a:rPr>
              <a:t> </a:t>
            </a:r>
            <a:r>
              <a:rPr lang="en-US" sz="2400" dirty="0" err="1">
                <a:ea typeface="Kozuka Gothic Pro H" pitchFamily="34" charset="-128"/>
              </a:rPr>
              <a:t>untuk</a:t>
            </a:r>
            <a:r>
              <a:rPr lang="en-US" sz="2400" dirty="0">
                <a:ea typeface="Kozuka Gothic Pro H" pitchFamily="34" charset="-128"/>
              </a:rPr>
              <a:t> </a:t>
            </a:r>
            <a:r>
              <a:rPr lang="en-US" sz="2400" b="1" dirty="0" smtClean="0">
                <a:ea typeface="Kozuka Gothic Pro H" pitchFamily="34" charset="-128"/>
              </a:rPr>
              <a:t>AI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b="1" i="1" dirty="0" smtClean="0">
                <a:ea typeface="Kozuka Gothic Pro H" pitchFamily="34" charset="-128"/>
              </a:rPr>
              <a:t>searching 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b="1" i="1" dirty="0" smtClean="0">
              <a:ea typeface="Kozuka Gothic Pro H" pitchFamily="34" charset="-128"/>
            </a:endParaRPr>
          </a:p>
          <a:p>
            <a:pPr marL="0" indent="0">
              <a:buNone/>
            </a:pPr>
            <a:r>
              <a:rPr lang="en-US" sz="2400" dirty="0" smtClean="0">
                <a:ea typeface="Kozuka Gothic Pro H" pitchFamily="34" charset="-128"/>
              </a:rPr>
              <a:t>2. </a:t>
            </a:r>
            <a:r>
              <a:rPr lang="en-US" sz="2400" dirty="0" err="1" smtClean="0">
                <a:ea typeface="Kozuka Gothic Pro H" pitchFamily="34" charset="-128"/>
              </a:rPr>
              <a:t>Jelaskan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secara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singkat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tentang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apa</a:t>
            </a:r>
            <a:r>
              <a:rPr lang="en-US" sz="2400" dirty="0" smtClean="0">
                <a:ea typeface="Kozuka Gothic Pro H" pitchFamily="34" charset="-128"/>
              </a:rPr>
              <a:t> yang </a:t>
            </a:r>
            <a:r>
              <a:rPr lang="en-US" sz="2400" dirty="0" err="1" smtClean="0">
                <a:ea typeface="Kozuka Gothic Pro H" pitchFamily="34" charset="-128"/>
              </a:rPr>
              <a:t>dibahas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dalam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setiap</a:t>
            </a:r>
            <a:r>
              <a:rPr lang="en-US" sz="2400" dirty="0" smtClean="0">
                <a:ea typeface="Kozuka Gothic Pro H" pitchFamily="34" charset="-128"/>
              </a:rPr>
              <a:t> paper!</a:t>
            </a:r>
          </a:p>
          <a:p>
            <a:pPr marL="0" indent="0">
              <a:buNone/>
            </a:pPr>
            <a:endParaRPr lang="en-US" sz="2000" dirty="0">
              <a:ea typeface="Kozuka Gothic Pro H" pitchFamily="34" charset="-128"/>
            </a:endParaRPr>
          </a:p>
          <a:p>
            <a:pPr marL="0" indent="0">
              <a:buNone/>
            </a:pPr>
            <a:r>
              <a:rPr lang="en-US" sz="2400" dirty="0" err="1">
                <a:ea typeface="Kozuka Gothic Pro H" pitchFamily="34" charset="-128"/>
              </a:rPr>
              <a:t>Kumpulkan</a:t>
            </a:r>
            <a:r>
              <a:rPr lang="en-US" sz="2400" dirty="0">
                <a:ea typeface="Kozuka Gothic Pro H" pitchFamily="34" charset="-128"/>
              </a:rPr>
              <a:t> </a:t>
            </a:r>
            <a:r>
              <a:rPr lang="en-US" sz="2400" dirty="0" err="1">
                <a:ea typeface="Kozuka Gothic Pro H" pitchFamily="34" charset="-128"/>
              </a:rPr>
              <a:t>dalam</a:t>
            </a:r>
            <a:r>
              <a:rPr lang="en-US" sz="2400" dirty="0">
                <a:ea typeface="Kozuka Gothic Pro H" pitchFamily="34" charset="-128"/>
              </a:rPr>
              <a:t> 1 CD per </a:t>
            </a:r>
            <a:r>
              <a:rPr lang="en-US" sz="2400" dirty="0" err="1">
                <a:ea typeface="Kozuka Gothic Pro H" pitchFamily="34" charset="-128"/>
              </a:rPr>
              <a:t>kelas</a:t>
            </a:r>
            <a:r>
              <a:rPr lang="en-US" sz="2400" dirty="0">
                <a:ea typeface="Kozuka Gothic Pro H" pitchFamily="34" charset="-128"/>
              </a:rPr>
              <a:t>, </a:t>
            </a:r>
            <a:r>
              <a:rPr lang="en-US" sz="2400" dirty="0" err="1">
                <a:ea typeface="Kozuka Gothic Pro H" pitchFamily="34" charset="-128"/>
              </a:rPr>
              <a:t>dengan</a:t>
            </a:r>
            <a:r>
              <a:rPr lang="en-US" sz="2400" dirty="0">
                <a:ea typeface="Kozuka Gothic Pro H" pitchFamily="34" charset="-128"/>
              </a:rPr>
              <a:t> 1 folder </a:t>
            </a:r>
            <a:r>
              <a:rPr lang="en-US" sz="2400" dirty="0" err="1">
                <a:ea typeface="Kozuka Gothic Pro H" pitchFamily="34" charset="-128"/>
              </a:rPr>
              <a:t>untuk</a:t>
            </a:r>
            <a:r>
              <a:rPr lang="en-US" sz="2400" dirty="0">
                <a:ea typeface="Kozuka Gothic Pro H" pitchFamily="34" charset="-128"/>
              </a:rPr>
              <a:t> </a:t>
            </a:r>
            <a:r>
              <a:rPr lang="en-US" sz="2400" dirty="0" err="1">
                <a:ea typeface="Kozuka Gothic Pro H" pitchFamily="34" charset="-128"/>
              </a:rPr>
              <a:t>setiap</a:t>
            </a:r>
            <a:r>
              <a:rPr lang="en-US" sz="2400" dirty="0">
                <a:ea typeface="Kozuka Gothic Pro H" pitchFamily="34" charset="-128"/>
              </a:rPr>
              <a:t> orang.</a:t>
            </a:r>
          </a:p>
          <a:p>
            <a:pPr marL="0" indent="0">
              <a:buNone/>
            </a:pPr>
            <a:endParaRPr lang="en-US" sz="2000" dirty="0" smtClean="0">
              <a:ea typeface="Kozuka Gothic Pro H" pitchFamily="34" charset="-128"/>
            </a:endParaRPr>
          </a:p>
          <a:p>
            <a:pPr marL="0" indent="0">
              <a:buNone/>
            </a:pPr>
            <a:r>
              <a:rPr lang="en-US" sz="2000" b="1" dirty="0" smtClean="0">
                <a:ea typeface="Kozuka Gothic Pro H" pitchFamily="34" charset="-128"/>
              </a:rPr>
              <a:t>Format Folder : </a:t>
            </a:r>
          </a:p>
          <a:p>
            <a:pPr marL="0" indent="0">
              <a:buNone/>
            </a:pPr>
            <a:r>
              <a:rPr lang="en-US" sz="2000" dirty="0" err="1" smtClean="0">
                <a:ea typeface="Kozuka Gothic Pro H" pitchFamily="34" charset="-128"/>
              </a:rPr>
              <a:t>Kelas_NIM_Nama</a:t>
            </a:r>
            <a:endParaRPr lang="en-US" sz="2000" dirty="0" smtClean="0">
              <a:ea typeface="Kozuka Gothic Pro H" pitchFamily="34" charset="-128"/>
            </a:endParaRPr>
          </a:p>
          <a:p>
            <a:pPr marL="0" indent="0">
              <a:buNone/>
            </a:pPr>
            <a:r>
              <a:rPr lang="en-US" sz="2000" dirty="0" smtClean="0">
                <a:ea typeface="Kozuka Gothic Pro H" pitchFamily="34" charset="-128"/>
              </a:rPr>
              <a:t>AI - 12_10107778_Ken </a:t>
            </a:r>
            <a:r>
              <a:rPr lang="en-US" sz="2000" dirty="0" err="1" smtClean="0">
                <a:ea typeface="Kozuka Gothic Pro H" pitchFamily="34" charset="-128"/>
              </a:rPr>
              <a:t>Kinanti</a:t>
            </a:r>
            <a:r>
              <a:rPr lang="en-US" sz="2000" dirty="0" smtClean="0">
                <a:ea typeface="Kozuka Gothic Pro H" pitchFamily="34" charset="-128"/>
              </a:rPr>
              <a:t> P</a:t>
            </a:r>
            <a:endParaRPr lang="en-US" sz="2000" dirty="0">
              <a:ea typeface="Kozuka Gothic Pro H" pitchFamily="34" charset="-128"/>
            </a:endParaRPr>
          </a:p>
          <a:p>
            <a:pPr>
              <a:buFontTx/>
              <a:buChar char="-"/>
            </a:pPr>
            <a:endParaRPr lang="en-US" sz="2000" i="1" dirty="0" smtClean="0">
              <a:ea typeface="Kozuka Gothic Pro H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57800" y="6009964"/>
            <a:ext cx="358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b="1" i="1" dirty="0">
                <a:solidFill>
                  <a:srgbClr val="FF0000"/>
                </a:solidFill>
                <a:ea typeface="Kozuka Gothic Pro H" pitchFamily="34" charset="-128"/>
              </a:rPr>
              <a:t>Deadline : </a:t>
            </a:r>
            <a:endParaRPr lang="en-US" sz="2000" b="1" i="1" dirty="0" smtClean="0">
              <a:solidFill>
                <a:srgbClr val="FF0000"/>
              </a:solidFill>
              <a:ea typeface="Kozuka Gothic Pro H" pitchFamily="34" charset="-128"/>
            </a:endParaRPr>
          </a:p>
          <a:p>
            <a:pPr algn="r"/>
            <a:r>
              <a:rPr lang="en-US" sz="2000" b="1" i="1" dirty="0" smtClean="0">
                <a:solidFill>
                  <a:srgbClr val="FF0000"/>
                </a:solidFill>
                <a:ea typeface="Kozuka Gothic Pro H" pitchFamily="34" charset="-128"/>
              </a:rPr>
              <a:t>H-1 </a:t>
            </a:r>
            <a:r>
              <a:rPr lang="en-US" sz="2000" b="1" i="1" dirty="0" err="1">
                <a:solidFill>
                  <a:srgbClr val="FF0000"/>
                </a:solidFill>
                <a:ea typeface="Kozuka Gothic Pro H" pitchFamily="34" charset="-128"/>
              </a:rPr>
              <a:t>pertemuan</a:t>
            </a:r>
            <a:r>
              <a:rPr lang="en-US" sz="2000" b="1" i="1" dirty="0">
                <a:solidFill>
                  <a:srgbClr val="FF0000"/>
                </a:solidFill>
                <a:ea typeface="Kozuka Gothic Pro H" pitchFamily="34" charset="-128"/>
              </a:rPr>
              <a:t> </a:t>
            </a:r>
            <a:r>
              <a:rPr lang="en-US" sz="2000" b="1" i="1" dirty="0" err="1">
                <a:solidFill>
                  <a:srgbClr val="FF0000"/>
                </a:solidFill>
                <a:ea typeface="Kozuka Gothic Pro H" pitchFamily="34" charset="-128"/>
              </a:rPr>
              <a:t>selanjutnya</a:t>
            </a:r>
            <a:endParaRPr lang="en-US" sz="2400" b="1" i="1" dirty="0">
              <a:solidFill>
                <a:srgbClr val="FF0000"/>
              </a:solidFill>
              <a:ea typeface="Kozuka Gothic Pro H" pitchFamily="34" charset="-128"/>
            </a:endParaRPr>
          </a:p>
        </p:txBody>
      </p:sp>
      <p:sp>
        <p:nvSpPr>
          <p:cNvPr id="8" name="Content Placeholder 14"/>
          <p:cNvSpPr txBox="1">
            <a:spLocks/>
          </p:cNvSpPr>
          <p:nvPr/>
        </p:nvSpPr>
        <p:spPr>
          <a:xfrm>
            <a:off x="5257800" y="1143000"/>
            <a:ext cx="3581400" cy="4609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b="1" dirty="0" smtClean="0">
                <a:ea typeface="Kozuka Gothic Pro H" pitchFamily="34" charset="-128"/>
              </a:rPr>
              <a:t>Isi Folder :</a:t>
            </a:r>
          </a:p>
          <a:p>
            <a:pPr>
              <a:buFontTx/>
              <a:buChar char="-"/>
            </a:pPr>
            <a:r>
              <a:rPr lang="en-US" sz="2400" dirty="0" smtClean="0">
                <a:ea typeface="Kozuka Gothic Pro H" pitchFamily="34" charset="-128"/>
              </a:rPr>
              <a:t>Paper 1</a:t>
            </a:r>
          </a:p>
          <a:p>
            <a:pPr>
              <a:buFontTx/>
              <a:buChar char="-"/>
            </a:pPr>
            <a:r>
              <a:rPr lang="en-US" sz="2400" dirty="0" smtClean="0">
                <a:ea typeface="Kozuka Gothic Pro H" pitchFamily="34" charset="-128"/>
              </a:rPr>
              <a:t>Paper 2</a:t>
            </a:r>
          </a:p>
          <a:p>
            <a:pPr>
              <a:buFontTx/>
              <a:buChar char="-"/>
            </a:pPr>
            <a:r>
              <a:rPr lang="en-US" sz="2400" dirty="0" smtClean="0">
                <a:ea typeface="Kozuka Gothic Pro H" pitchFamily="34" charset="-128"/>
              </a:rPr>
              <a:t>…</a:t>
            </a:r>
          </a:p>
          <a:p>
            <a:pPr>
              <a:buFontTx/>
              <a:buChar char="-"/>
            </a:pPr>
            <a:r>
              <a:rPr lang="en-US" sz="2400" dirty="0" smtClean="0">
                <a:ea typeface="Kozuka Gothic Pro H" pitchFamily="34" charset="-128"/>
              </a:rPr>
              <a:t>…</a:t>
            </a:r>
          </a:p>
          <a:p>
            <a:pPr>
              <a:buFontTx/>
              <a:buChar char="-"/>
            </a:pPr>
            <a:r>
              <a:rPr lang="en-US" sz="2400" dirty="0" err="1" smtClean="0">
                <a:ea typeface="Kozuka Gothic Pro H" pitchFamily="34" charset="-128"/>
              </a:rPr>
              <a:t>Pembahasan</a:t>
            </a:r>
            <a:endParaRPr lang="en-US" sz="2400" dirty="0">
              <a:ea typeface="Kozuka Gothic Pro H" pitchFamily="34" charset="-128"/>
            </a:endParaRPr>
          </a:p>
          <a:p>
            <a:pPr lvl="1">
              <a:buFontTx/>
              <a:buChar char="-"/>
            </a:pPr>
            <a:r>
              <a:rPr lang="en-US" sz="2400" dirty="0" err="1" smtClean="0">
                <a:ea typeface="Kozuka Gothic Pro H" pitchFamily="34" charset="-128"/>
              </a:rPr>
              <a:t>Pembahasan</a:t>
            </a:r>
            <a:r>
              <a:rPr lang="en-US" sz="2400" dirty="0" smtClean="0">
                <a:ea typeface="Kozuka Gothic Pro H" pitchFamily="34" charset="-128"/>
              </a:rPr>
              <a:t> Paper 1</a:t>
            </a:r>
          </a:p>
          <a:p>
            <a:pPr lvl="1">
              <a:buFontTx/>
              <a:buChar char="-"/>
            </a:pPr>
            <a:r>
              <a:rPr lang="en-US" sz="2400" dirty="0" err="1" smtClean="0">
                <a:ea typeface="Kozuka Gothic Pro H" pitchFamily="34" charset="-128"/>
              </a:rPr>
              <a:t>Pembahasan</a:t>
            </a:r>
            <a:r>
              <a:rPr lang="en-US" sz="2400" dirty="0" smtClean="0">
                <a:ea typeface="Kozuka Gothic Pro H" pitchFamily="34" charset="-128"/>
              </a:rPr>
              <a:t> Paper 2</a:t>
            </a:r>
          </a:p>
          <a:p>
            <a:pPr lvl="1">
              <a:buFontTx/>
              <a:buChar char="-"/>
            </a:pPr>
            <a:r>
              <a:rPr lang="en-US" sz="2400" dirty="0" smtClean="0">
                <a:ea typeface="Kozuka Gothic Pro H" pitchFamily="34" charset="-128"/>
              </a:rPr>
              <a:t>…</a:t>
            </a:r>
          </a:p>
          <a:p>
            <a:pPr lvl="1">
              <a:buFontTx/>
              <a:buChar char="-"/>
            </a:pPr>
            <a:r>
              <a:rPr lang="en-US" sz="2400" dirty="0" smtClean="0">
                <a:ea typeface="Kozuka Gothic Pro H" pitchFamily="34" charset="-128"/>
              </a:rPr>
              <a:t>…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091684" y="1143000"/>
            <a:ext cx="6858" cy="5486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24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9358</TotalTime>
  <Words>525</Words>
  <Application>Microsoft Office PowerPoint</Application>
  <PresentationFormat>On-screen Show (4:3)</PresentationFormat>
  <Paragraphs>193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Arabic Typesetting</vt:lpstr>
      <vt:lpstr>Arial</vt:lpstr>
      <vt:lpstr>Arial Rounded MT Bold</vt:lpstr>
      <vt:lpstr>Calibri</vt:lpstr>
      <vt:lpstr>Cambria Math</vt:lpstr>
      <vt:lpstr>Kozuka Gothic Pro H</vt:lpstr>
      <vt:lpstr>Segoe Print</vt:lpstr>
      <vt:lpstr>Office Theme</vt:lpstr>
      <vt:lpstr>MATERI PERKULIAHAN KECERDASAN BUATAN</vt:lpstr>
      <vt:lpstr>PowerPoint Presentation</vt:lpstr>
      <vt:lpstr>L E A R N I N 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 X A M P L E  T A S K</vt:lpstr>
      <vt:lpstr>PowerPoint Presentation</vt:lpstr>
      <vt:lpstr>PowerPoint Presentation</vt:lpstr>
      <vt:lpstr>PowerPoint Presentation</vt:lpstr>
      <vt:lpstr>PowerPoint Presentation</vt:lpstr>
      <vt:lpstr>A L G O R I T M A L E A R N I N 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 A S U S L E A R N I N G</vt:lpstr>
      <vt:lpstr>PowerPoint Presentation</vt:lpstr>
      <vt:lpstr>PowerPoint Presentation</vt:lpstr>
      <vt:lpstr>PowerPoint Presentation</vt:lpstr>
      <vt:lpstr>PowerPoint Presentation</vt:lpstr>
      <vt:lpstr>TUGAS PERORANGAN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Berorientasi Objek &lt;PBO&gt;</dc:title>
  <dc:creator>Ken</dc:creator>
  <cp:lastModifiedBy>Microsoft account</cp:lastModifiedBy>
  <cp:revision>551</cp:revision>
  <dcterms:created xsi:type="dcterms:W3CDTF">2012-02-22T14:18:32Z</dcterms:created>
  <dcterms:modified xsi:type="dcterms:W3CDTF">2017-10-31T07:52:44Z</dcterms:modified>
</cp:coreProperties>
</file>